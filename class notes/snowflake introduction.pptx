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66" r:id="rId5"/>
    <p:sldId id="259" r:id="rId6"/>
    <p:sldId id="267" r:id="rId7"/>
    <p:sldId id="265" r:id="rId8"/>
    <p:sldId id="262" r:id="rId9"/>
    <p:sldId id="268" r:id="rId10"/>
    <p:sldId id="263" r:id="rId11"/>
    <p:sldId id="264" r:id="rId12"/>
    <p:sldId id="269" r:id="rId13"/>
    <p:sldId id="270" r:id="rId14"/>
    <p:sldId id="271" r:id="rId15"/>
    <p:sldId id="272" r:id="rId16"/>
    <p:sldId id="273"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3CB4AD2-DCA0-4774-8D15-81FBB24B1CA4}" v="81" dt="2026-03-30T14:48:07.89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5033" autoAdjust="0"/>
  </p:normalViewPr>
  <p:slideViewPr>
    <p:cSldViewPr snapToGrid="0">
      <p:cViewPr varScale="1">
        <p:scale>
          <a:sx n="78" d="100"/>
          <a:sy n="78" d="100"/>
        </p:scale>
        <p:origin x="878"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microsoft.com/office/2015/10/relationships/revisionInfo" Target="revisionInfo.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18041E-4695-4FC8-3E89-7E8B5C9C81C2}"/>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CE0F002F-234A-2B98-3CE4-A37AC1FECAA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F168E481-D071-734E-A0BC-E9706A9E80BE}"/>
              </a:ext>
            </a:extLst>
          </p:cNvPr>
          <p:cNvSpPr>
            <a:spLocks noGrp="1"/>
          </p:cNvSpPr>
          <p:nvPr>
            <p:ph type="dt" sz="half" idx="10"/>
          </p:nvPr>
        </p:nvSpPr>
        <p:spPr/>
        <p:txBody>
          <a:bodyPr/>
          <a:lstStyle/>
          <a:p>
            <a:fld id="{97EBF8A0-77EB-483F-98E6-5C304B163337}" type="datetimeFigureOut">
              <a:rPr lang="en-IN" smtClean="0"/>
              <a:t>30-03-2026</a:t>
            </a:fld>
            <a:endParaRPr lang="en-IN"/>
          </a:p>
        </p:txBody>
      </p:sp>
      <p:sp>
        <p:nvSpPr>
          <p:cNvPr id="5" name="Footer Placeholder 4">
            <a:extLst>
              <a:ext uri="{FF2B5EF4-FFF2-40B4-BE49-F238E27FC236}">
                <a16:creationId xmlns:a16="http://schemas.microsoft.com/office/drawing/2014/main" id="{AE170E03-779E-FFE7-1643-EEB6952B9A8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65C0F97-89A9-C57F-6E90-43EFB2B0EF39}"/>
              </a:ext>
            </a:extLst>
          </p:cNvPr>
          <p:cNvSpPr>
            <a:spLocks noGrp="1"/>
          </p:cNvSpPr>
          <p:nvPr>
            <p:ph type="sldNum" sz="quarter" idx="12"/>
          </p:nvPr>
        </p:nvSpPr>
        <p:spPr/>
        <p:txBody>
          <a:bodyPr/>
          <a:lstStyle/>
          <a:p>
            <a:fld id="{22458A98-B76D-48CA-891A-8D710B11004C}" type="slidenum">
              <a:rPr lang="en-IN" smtClean="0"/>
              <a:t>‹#›</a:t>
            </a:fld>
            <a:endParaRPr lang="en-IN"/>
          </a:p>
        </p:txBody>
      </p:sp>
    </p:spTree>
    <p:extLst>
      <p:ext uri="{BB962C8B-B14F-4D97-AF65-F5344CB8AC3E}">
        <p14:creationId xmlns:p14="http://schemas.microsoft.com/office/powerpoint/2010/main" val="14960531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C18EBC-A57F-407C-65AA-2D398DA88B83}"/>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F01E1F91-D736-4311-CF5F-357193F542E0}"/>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B94BF2E-314A-E328-85AD-03AD04CF95D1}"/>
              </a:ext>
            </a:extLst>
          </p:cNvPr>
          <p:cNvSpPr>
            <a:spLocks noGrp="1"/>
          </p:cNvSpPr>
          <p:nvPr>
            <p:ph type="dt" sz="half" idx="10"/>
          </p:nvPr>
        </p:nvSpPr>
        <p:spPr/>
        <p:txBody>
          <a:bodyPr/>
          <a:lstStyle/>
          <a:p>
            <a:fld id="{97EBF8A0-77EB-483F-98E6-5C304B163337}" type="datetimeFigureOut">
              <a:rPr lang="en-IN" smtClean="0"/>
              <a:t>30-03-2026</a:t>
            </a:fld>
            <a:endParaRPr lang="en-IN"/>
          </a:p>
        </p:txBody>
      </p:sp>
      <p:sp>
        <p:nvSpPr>
          <p:cNvPr id="5" name="Footer Placeholder 4">
            <a:extLst>
              <a:ext uri="{FF2B5EF4-FFF2-40B4-BE49-F238E27FC236}">
                <a16:creationId xmlns:a16="http://schemas.microsoft.com/office/drawing/2014/main" id="{D98D9FFA-B34E-0F7E-0420-31E051FBE16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0065FA1-3BB8-B3C8-0FEB-0DE8B512EB56}"/>
              </a:ext>
            </a:extLst>
          </p:cNvPr>
          <p:cNvSpPr>
            <a:spLocks noGrp="1"/>
          </p:cNvSpPr>
          <p:nvPr>
            <p:ph type="sldNum" sz="quarter" idx="12"/>
          </p:nvPr>
        </p:nvSpPr>
        <p:spPr/>
        <p:txBody>
          <a:bodyPr/>
          <a:lstStyle/>
          <a:p>
            <a:fld id="{22458A98-B76D-48CA-891A-8D710B11004C}" type="slidenum">
              <a:rPr lang="en-IN" smtClean="0"/>
              <a:t>‹#›</a:t>
            </a:fld>
            <a:endParaRPr lang="en-IN"/>
          </a:p>
        </p:txBody>
      </p:sp>
    </p:spTree>
    <p:extLst>
      <p:ext uri="{BB962C8B-B14F-4D97-AF65-F5344CB8AC3E}">
        <p14:creationId xmlns:p14="http://schemas.microsoft.com/office/powerpoint/2010/main" val="331897849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2C72EA-524C-7B97-C2A0-551ED870B655}"/>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54DF4B5F-A7F4-A735-3F2A-0667A912FBC1}"/>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EEC9FDD-2055-C965-2048-59304F8A3131}"/>
              </a:ext>
            </a:extLst>
          </p:cNvPr>
          <p:cNvSpPr>
            <a:spLocks noGrp="1"/>
          </p:cNvSpPr>
          <p:nvPr>
            <p:ph type="dt" sz="half" idx="10"/>
          </p:nvPr>
        </p:nvSpPr>
        <p:spPr/>
        <p:txBody>
          <a:bodyPr/>
          <a:lstStyle/>
          <a:p>
            <a:fld id="{97EBF8A0-77EB-483F-98E6-5C304B163337}" type="datetimeFigureOut">
              <a:rPr lang="en-IN" smtClean="0"/>
              <a:t>30-03-2026</a:t>
            </a:fld>
            <a:endParaRPr lang="en-IN"/>
          </a:p>
        </p:txBody>
      </p:sp>
      <p:sp>
        <p:nvSpPr>
          <p:cNvPr id="5" name="Footer Placeholder 4">
            <a:extLst>
              <a:ext uri="{FF2B5EF4-FFF2-40B4-BE49-F238E27FC236}">
                <a16:creationId xmlns:a16="http://schemas.microsoft.com/office/drawing/2014/main" id="{955F87DE-EDD1-69CD-3A53-1BB12544036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C0DB8A5-5C22-EA62-182F-E49540A5AE23}"/>
              </a:ext>
            </a:extLst>
          </p:cNvPr>
          <p:cNvSpPr>
            <a:spLocks noGrp="1"/>
          </p:cNvSpPr>
          <p:nvPr>
            <p:ph type="sldNum" sz="quarter" idx="12"/>
          </p:nvPr>
        </p:nvSpPr>
        <p:spPr/>
        <p:txBody>
          <a:bodyPr/>
          <a:lstStyle/>
          <a:p>
            <a:fld id="{22458A98-B76D-48CA-891A-8D710B11004C}" type="slidenum">
              <a:rPr lang="en-IN" smtClean="0"/>
              <a:t>‹#›</a:t>
            </a:fld>
            <a:endParaRPr lang="en-IN"/>
          </a:p>
        </p:txBody>
      </p:sp>
    </p:spTree>
    <p:extLst>
      <p:ext uri="{BB962C8B-B14F-4D97-AF65-F5344CB8AC3E}">
        <p14:creationId xmlns:p14="http://schemas.microsoft.com/office/powerpoint/2010/main" val="338196599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555756-EEAE-F1DB-75E5-421939E10DE9}"/>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462BABEC-9426-0F17-6D01-380484346155}"/>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FED0CA39-A19D-B200-290A-385F6CCFEDF3}"/>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F7C63013-A35D-955B-441E-4363043BD545}"/>
              </a:ext>
            </a:extLst>
          </p:cNvPr>
          <p:cNvSpPr>
            <a:spLocks noGrp="1"/>
          </p:cNvSpPr>
          <p:nvPr>
            <p:ph type="dt" sz="half" idx="10"/>
          </p:nvPr>
        </p:nvSpPr>
        <p:spPr/>
        <p:txBody>
          <a:bodyPr/>
          <a:lstStyle/>
          <a:p>
            <a:fld id="{97EBF8A0-77EB-483F-98E6-5C304B163337}" type="datetimeFigureOut">
              <a:rPr lang="en-IN" smtClean="0"/>
              <a:t>30-03-2026</a:t>
            </a:fld>
            <a:endParaRPr lang="en-IN"/>
          </a:p>
        </p:txBody>
      </p:sp>
      <p:sp>
        <p:nvSpPr>
          <p:cNvPr id="6" name="Footer Placeholder 5">
            <a:extLst>
              <a:ext uri="{FF2B5EF4-FFF2-40B4-BE49-F238E27FC236}">
                <a16:creationId xmlns:a16="http://schemas.microsoft.com/office/drawing/2014/main" id="{5D2CE476-04E7-DD03-7483-980521843B98}"/>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9A8CC656-7011-DEF7-A5B4-1D7C8FF3DF75}"/>
              </a:ext>
            </a:extLst>
          </p:cNvPr>
          <p:cNvSpPr>
            <a:spLocks noGrp="1"/>
          </p:cNvSpPr>
          <p:nvPr>
            <p:ph type="sldNum" sz="quarter" idx="12"/>
          </p:nvPr>
        </p:nvSpPr>
        <p:spPr/>
        <p:txBody>
          <a:bodyPr/>
          <a:lstStyle/>
          <a:p>
            <a:fld id="{22458A98-B76D-48CA-891A-8D710B11004C}" type="slidenum">
              <a:rPr lang="en-IN" smtClean="0"/>
              <a:t>‹#›</a:t>
            </a:fld>
            <a:endParaRPr lang="en-IN"/>
          </a:p>
        </p:txBody>
      </p:sp>
    </p:spTree>
    <p:extLst>
      <p:ext uri="{BB962C8B-B14F-4D97-AF65-F5344CB8AC3E}">
        <p14:creationId xmlns:p14="http://schemas.microsoft.com/office/powerpoint/2010/main" val="151117847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0A5943-1A1E-7F13-6986-DA32FB2E1ECC}"/>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145ACD5D-25AD-8A6D-57D4-852FA31695D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8866E95A-C66E-6EC1-2380-0B8D9A4820E6}"/>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4A79FA59-BC85-29A8-0EF5-D4DEC518349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41E943EC-BE5C-A4CC-2224-C36D889F532A}"/>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B35AE24D-0360-71A3-F15B-6B746B0717BD}"/>
              </a:ext>
            </a:extLst>
          </p:cNvPr>
          <p:cNvSpPr>
            <a:spLocks noGrp="1"/>
          </p:cNvSpPr>
          <p:nvPr>
            <p:ph type="dt" sz="half" idx="10"/>
          </p:nvPr>
        </p:nvSpPr>
        <p:spPr/>
        <p:txBody>
          <a:bodyPr/>
          <a:lstStyle/>
          <a:p>
            <a:fld id="{97EBF8A0-77EB-483F-98E6-5C304B163337}" type="datetimeFigureOut">
              <a:rPr lang="en-IN" smtClean="0"/>
              <a:t>30-03-2026</a:t>
            </a:fld>
            <a:endParaRPr lang="en-IN"/>
          </a:p>
        </p:txBody>
      </p:sp>
      <p:sp>
        <p:nvSpPr>
          <p:cNvPr id="8" name="Footer Placeholder 7">
            <a:extLst>
              <a:ext uri="{FF2B5EF4-FFF2-40B4-BE49-F238E27FC236}">
                <a16:creationId xmlns:a16="http://schemas.microsoft.com/office/drawing/2014/main" id="{48A6A761-06C5-3306-D260-6A5895EDFFE8}"/>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50ACBFDE-7A28-4613-A231-CC8E9DDAFE7B}"/>
              </a:ext>
            </a:extLst>
          </p:cNvPr>
          <p:cNvSpPr>
            <a:spLocks noGrp="1"/>
          </p:cNvSpPr>
          <p:nvPr>
            <p:ph type="sldNum" sz="quarter" idx="12"/>
          </p:nvPr>
        </p:nvSpPr>
        <p:spPr/>
        <p:txBody>
          <a:bodyPr/>
          <a:lstStyle/>
          <a:p>
            <a:fld id="{22458A98-B76D-48CA-891A-8D710B11004C}" type="slidenum">
              <a:rPr lang="en-IN" smtClean="0"/>
              <a:t>‹#›</a:t>
            </a:fld>
            <a:endParaRPr lang="en-IN"/>
          </a:p>
        </p:txBody>
      </p:sp>
    </p:spTree>
    <p:extLst>
      <p:ext uri="{BB962C8B-B14F-4D97-AF65-F5344CB8AC3E}">
        <p14:creationId xmlns:p14="http://schemas.microsoft.com/office/powerpoint/2010/main" val="78066812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D204DD-DB0F-EACA-C6CD-120DE738450E}"/>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91B7E8F9-BEE0-9B97-6FB0-11BF96CF8E7D}"/>
              </a:ext>
            </a:extLst>
          </p:cNvPr>
          <p:cNvSpPr>
            <a:spLocks noGrp="1"/>
          </p:cNvSpPr>
          <p:nvPr>
            <p:ph type="dt" sz="half" idx="10"/>
          </p:nvPr>
        </p:nvSpPr>
        <p:spPr/>
        <p:txBody>
          <a:bodyPr/>
          <a:lstStyle/>
          <a:p>
            <a:fld id="{97EBF8A0-77EB-483F-98E6-5C304B163337}" type="datetimeFigureOut">
              <a:rPr lang="en-IN" smtClean="0"/>
              <a:t>30-03-2026</a:t>
            </a:fld>
            <a:endParaRPr lang="en-IN"/>
          </a:p>
        </p:txBody>
      </p:sp>
      <p:sp>
        <p:nvSpPr>
          <p:cNvPr id="4" name="Footer Placeholder 3">
            <a:extLst>
              <a:ext uri="{FF2B5EF4-FFF2-40B4-BE49-F238E27FC236}">
                <a16:creationId xmlns:a16="http://schemas.microsoft.com/office/drawing/2014/main" id="{F333E290-1AD9-4508-B04C-6E999F3D678A}"/>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F7AA4704-62CC-3D3A-9FF2-6394D7957391}"/>
              </a:ext>
            </a:extLst>
          </p:cNvPr>
          <p:cNvSpPr>
            <a:spLocks noGrp="1"/>
          </p:cNvSpPr>
          <p:nvPr>
            <p:ph type="sldNum" sz="quarter" idx="12"/>
          </p:nvPr>
        </p:nvSpPr>
        <p:spPr/>
        <p:txBody>
          <a:bodyPr/>
          <a:lstStyle/>
          <a:p>
            <a:fld id="{22458A98-B76D-48CA-891A-8D710B11004C}" type="slidenum">
              <a:rPr lang="en-IN" smtClean="0"/>
              <a:t>‹#›</a:t>
            </a:fld>
            <a:endParaRPr lang="en-IN"/>
          </a:p>
        </p:txBody>
      </p:sp>
    </p:spTree>
    <p:extLst>
      <p:ext uri="{BB962C8B-B14F-4D97-AF65-F5344CB8AC3E}">
        <p14:creationId xmlns:p14="http://schemas.microsoft.com/office/powerpoint/2010/main" val="96177650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770F5EE-F720-141B-247F-D7B4E3D24C55}"/>
              </a:ext>
            </a:extLst>
          </p:cNvPr>
          <p:cNvSpPr>
            <a:spLocks noGrp="1"/>
          </p:cNvSpPr>
          <p:nvPr>
            <p:ph type="dt" sz="half" idx="10"/>
          </p:nvPr>
        </p:nvSpPr>
        <p:spPr/>
        <p:txBody>
          <a:bodyPr/>
          <a:lstStyle/>
          <a:p>
            <a:fld id="{97EBF8A0-77EB-483F-98E6-5C304B163337}" type="datetimeFigureOut">
              <a:rPr lang="en-IN" smtClean="0"/>
              <a:t>30-03-2026</a:t>
            </a:fld>
            <a:endParaRPr lang="en-IN"/>
          </a:p>
        </p:txBody>
      </p:sp>
      <p:sp>
        <p:nvSpPr>
          <p:cNvPr id="3" name="Footer Placeholder 2">
            <a:extLst>
              <a:ext uri="{FF2B5EF4-FFF2-40B4-BE49-F238E27FC236}">
                <a16:creationId xmlns:a16="http://schemas.microsoft.com/office/drawing/2014/main" id="{8AEBD122-6E47-01D6-5F34-E36C331BE13C}"/>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77E86755-78B2-B945-D179-E16FBA958D03}"/>
              </a:ext>
            </a:extLst>
          </p:cNvPr>
          <p:cNvSpPr>
            <a:spLocks noGrp="1"/>
          </p:cNvSpPr>
          <p:nvPr>
            <p:ph type="sldNum" sz="quarter" idx="12"/>
          </p:nvPr>
        </p:nvSpPr>
        <p:spPr/>
        <p:txBody>
          <a:bodyPr/>
          <a:lstStyle/>
          <a:p>
            <a:fld id="{22458A98-B76D-48CA-891A-8D710B11004C}" type="slidenum">
              <a:rPr lang="en-IN" smtClean="0"/>
              <a:t>‹#›</a:t>
            </a:fld>
            <a:endParaRPr lang="en-IN"/>
          </a:p>
        </p:txBody>
      </p:sp>
    </p:spTree>
    <p:extLst>
      <p:ext uri="{BB962C8B-B14F-4D97-AF65-F5344CB8AC3E}">
        <p14:creationId xmlns:p14="http://schemas.microsoft.com/office/powerpoint/2010/main" val="380960065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742D1D-5614-9E28-432F-6F80DE126C5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483EB3AB-17A4-A448-ED84-7E0544A0D8D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7712D575-8559-E63F-3011-74C72C3B465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E48AE22-3B40-E3B1-561D-CF7F599B7F44}"/>
              </a:ext>
            </a:extLst>
          </p:cNvPr>
          <p:cNvSpPr>
            <a:spLocks noGrp="1"/>
          </p:cNvSpPr>
          <p:nvPr>
            <p:ph type="dt" sz="half" idx="10"/>
          </p:nvPr>
        </p:nvSpPr>
        <p:spPr/>
        <p:txBody>
          <a:bodyPr/>
          <a:lstStyle/>
          <a:p>
            <a:fld id="{97EBF8A0-77EB-483F-98E6-5C304B163337}" type="datetimeFigureOut">
              <a:rPr lang="en-IN" smtClean="0"/>
              <a:t>30-03-2026</a:t>
            </a:fld>
            <a:endParaRPr lang="en-IN"/>
          </a:p>
        </p:txBody>
      </p:sp>
      <p:sp>
        <p:nvSpPr>
          <p:cNvPr id="6" name="Footer Placeholder 5">
            <a:extLst>
              <a:ext uri="{FF2B5EF4-FFF2-40B4-BE49-F238E27FC236}">
                <a16:creationId xmlns:a16="http://schemas.microsoft.com/office/drawing/2014/main" id="{4A86ADD7-A71D-935E-4D1C-D5CC5BBF4CA4}"/>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A2A61BA0-7AE1-BC09-4806-B5EAEBB518F0}"/>
              </a:ext>
            </a:extLst>
          </p:cNvPr>
          <p:cNvSpPr>
            <a:spLocks noGrp="1"/>
          </p:cNvSpPr>
          <p:nvPr>
            <p:ph type="sldNum" sz="quarter" idx="12"/>
          </p:nvPr>
        </p:nvSpPr>
        <p:spPr/>
        <p:txBody>
          <a:bodyPr/>
          <a:lstStyle/>
          <a:p>
            <a:fld id="{22458A98-B76D-48CA-891A-8D710B11004C}" type="slidenum">
              <a:rPr lang="en-IN" smtClean="0"/>
              <a:t>‹#›</a:t>
            </a:fld>
            <a:endParaRPr lang="en-IN"/>
          </a:p>
        </p:txBody>
      </p:sp>
    </p:spTree>
    <p:extLst>
      <p:ext uri="{BB962C8B-B14F-4D97-AF65-F5344CB8AC3E}">
        <p14:creationId xmlns:p14="http://schemas.microsoft.com/office/powerpoint/2010/main" val="403796939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29CED6-2BC2-4B7A-D1BE-65D0FD5B178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2329A90F-3539-DE71-8B21-FEB86E07C94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8CAB745A-044A-1D98-434C-5B4B64F3C03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FC9426C-4084-C8E3-8BA8-57747DF2337E}"/>
              </a:ext>
            </a:extLst>
          </p:cNvPr>
          <p:cNvSpPr>
            <a:spLocks noGrp="1"/>
          </p:cNvSpPr>
          <p:nvPr>
            <p:ph type="dt" sz="half" idx="10"/>
          </p:nvPr>
        </p:nvSpPr>
        <p:spPr/>
        <p:txBody>
          <a:bodyPr/>
          <a:lstStyle/>
          <a:p>
            <a:fld id="{97EBF8A0-77EB-483F-98E6-5C304B163337}" type="datetimeFigureOut">
              <a:rPr lang="en-IN" smtClean="0"/>
              <a:t>30-03-2026</a:t>
            </a:fld>
            <a:endParaRPr lang="en-IN"/>
          </a:p>
        </p:txBody>
      </p:sp>
      <p:sp>
        <p:nvSpPr>
          <p:cNvPr id="6" name="Footer Placeholder 5">
            <a:extLst>
              <a:ext uri="{FF2B5EF4-FFF2-40B4-BE49-F238E27FC236}">
                <a16:creationId xmlns:a16="http://schemas.microsoft.com/office/drawing/2014/main" id="{EA1C98F9-1AE3-1861-21A7-DF8D0512DEB3}"/>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064D6D2E-188C-948F-5704-63F0FEDC760E}"/>
              </a:ext>
            </a:extLst>
          </p:cNvPr>
          <p:cNvSpPr>
            <a:spLocks noGrp="1"/>
          </p:cNvSpPr>
          <p:nvPr>
            <p:ph type="sldNum" sz="quarter" idx="12"/>
          </p:nvPr>
        </p:nvSpPr>
        <p:spPr/>
        <p:txBody>
          <a:bodyPr/>
          <a:lstStyle/>
          <a:p>
            <a:fld id="{22458A98-B76D-48CA-891A-8D710B11004C}" type="slidenum">
              <a:rPr lang="en-IN" smtClean="0"/>
              <a:t>‹#›</a:t>
            </a:fld>
            <a:endParaRPr lang="en-IN"/>
          </a:p>
        </p:txBody>
      </p:sp>
    </p:spTree>
    <p:extLst>
      <p:ext uri="{BB962C8B-B14F-4D97-AF65-F5344CB8AC3E}">
        <p14:creationId xmlns:p14="http://schemas.microsoft.com/office/powerpoint/2010/main" val="265562813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4C3874-108A-489D-DE6F-AE6095BA517E}"/>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5835C3FF-F55D-1CEE-EDF8-B07FEEB2967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5583EB5-FAA3-54D4-2897-7EC34B75DE78}"/>
              </a:ext>
            </a:extLst>
          </p:cNvPr>
          <p:cNvSpPr>
            <a:spLocks noGrp="1"/>
          </p:cNvSpPr>
          <p:nvPr>
            <p:ph type="dt" sz="half" idx="10"/>
          </p:nvPr>
        </p:nvSpPr>
        <p:spPr/>
        <p:txBody>
          <a:bodyPr/>
          <a:lstStyle/>
          <a:p>
            <a:fld id="{97EBF8A0-77EB-483F-98E6-5C304B163337}" type="datetimeFigureOut">
              <a:rPr lang="en-IN" smtClean="0"/>
              <a:t>30-03-2026</a:t>
            </a:fld>
            <a:endParaRPr lang="en-IN"/>
          </a:p>
        </p:txBody>
      </p:sp>
      <p:sp>
        <p:nvSpPr>
          <p:cNvPr id="5" name="Footer Placeholder 4">
            <a:extLst>
              <a:ext uri="{FF2B5EF4-FFF2-40B4-BE49-F238E27FC236}">
                <a16:creationId xmlns:a16="http://schemas.microsoft.com/office/drawing/2014/main" id="{2FC3EFE3-12C8-B1A8-C8EA-0020FE10A50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1A228A48-EB27-41C5-CE57-7B7F63562057}"/>
              </a:ext>
            </a:extLst>
          </p:cNvPr>
          <p:cNvSpPr>
            <a:spLocks noGrp="1"/>
          </p:cNvSpPr>
          <p:nvPr>
            <p:ph type="sldNum" sz="quarter" idx="12"/>
          </p:nvPr>
        </p:nvSpPr>
        <p:spPr/>
        <p:txBody>
          <a:bodyPr/>
          <a:lstStyle/>
          <a:p>
            <a:fld id="{22458A98-B76D-48CA-891A-8D710B11004C}" type="slidenum">
              <a:rPr lang="en-IN" smtClean="0"/>
              <a:t>‹#›</a:t>
            </a:fld>
            <a:endParaRPr lang="en-IN"/>
          </a:p>
        </p:txBody>
      </p:sp>
    </p:spTree>
    <p:extLst>
      <p:ext uri="{BB962C8B-B14F-4D97-AF65-F5344CB8AC3E}">
        <p14:creationId xmlns:p14="http://schemas.microsoft.com/office/powerpoint/2010/main" val="214486198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AFBEC03-4D92-1209-C125-726F06ADD3B0}"/>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19C5E743-BBAB-E20A-7698-2679D97A3F6E}"/>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E885480C-664A-FB10-4820-BDB7DF1309D4}"/>
              </a:ext>
            </a:extLst>
          </p:cNvPr>
          <p:cNvSpPr>
            <a:spLocks noGrp="1"/>
          </p:cNvSpPr>
          <p:nvPr>
            <p:ph type="dt" sz="half" idx="10"/>
          </p:nvPr>
        </p:nvSpPr>
        <p:spPr/>
        <p:txBody>
          <a:bodyPr/>
          <a:lstStyle/>
          <a:p>
            <a:fld id="{97EBF8A0-77EB-483F-98E6-5C304B163337}" type="datetimeFigureOut">
              <a:rPr lang="en-IN" smtClean="0"/>
              <a:t>30-03-2026</a:t>
            </a:fld>
            <a:endParaRPr lang="en-IN"/>
          </a:p>
        </p:txBody>
      </p:sp>
      <p:sp>
        <p:nvSpPr>
          <p:cNvPr id="5" name="Footer Placeholder 4">
            <a:extLst>
              <a:ext uri="{FF2B5EF4-FFF2-40B4-BE49-F238E27FC236}">
                <a16:creationId xmlns:a16="http://schemas.microsoft.com/office/drawing/2014/main" id="{23616099-0346-342C-BE91-32B2FFA211B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CEA9ABB-28A1-0588-F2CC-11686D3A7144}"/>
              </a:ext>
            </a:extLst>
          </p:cNvPr>
          <p:cNvSpPr>
            <a:spLocks noGrp="1"/>
          </p:cNvSpPr>
          <p:nvPr>
            <p:ph type="sldNum" sz="quarter" idx="12"/>
          </p:nvPr>
        </p:nvSpPr>
        <p:spPr/>
        <p:txBody>
          <a:bodyPr/>
          <a:lstStyle/>
          <a:p>
            <a:fld id="{22458A98-B76D-48CA-891A-8D710B11004C}" type="slidenum">
              <a:rPr lang="en-IN" smtClean="0"/>
              <a:t>‹#›</a:t>
            </a:fld>
            <a:endParaRPr lang="en-IN"/>
          </a:p>
        </p:txBody>
      </p:sp>
    </p:spTree>
    <p:extLst>
      <p:ext uri="{BB962C8B-B14F-4D97-AF65-F5344CB8AC3E}">
        <p14:creationId xmlns:p14="http://schemas.microsoft.com/office/powerpoint/2010/main" val="79609346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47EBA19-1D67-6DDD-59E9-9E3A06CD5D7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943F6F54-5FD7-EB30-8E5A-FD3A68D5FD8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FA75C8A-3734-A725-88F6-A08BB09CF4C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7EBF8A0-77EB-483F-98E6-5C304B163337}" type="datetimeFigureOut">
              <a:rPr lang="en-IN" smtClean="0"/>
              <a:t>30-03-2026</a:t>
            </a:fld>
            <a:endParaRPr lang="en-IN"/>
          </a:p>
        </p:txBody>
      </p:sp>
      <p:sp>
        <p:nvSpPr>
          <p:cNvPr id="5" name="Footer Placeholder 4">
            <a:extLst>
              <a:ext uri="{FF2B5EF4-FFF2-40B4-BE49-F238E27FC236}">
                <a16:creationId xmlns:a16="http://schemas.microsoft.com/office/drawing/2014/main" id="{7C55752A-7B1A-71DC-318C-3CA75B6E1FE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8C39FE3B-EC73-076C-2DE6-AD595FBA177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2458A98-B76D-48CA-891A-8D710B11004C}" type="slidenum">
              <a:rPr lang="en-IN" smtClean="0"/>
              <a:t>‹#›</a:t>
            </a:fld>
            <a:endParaRPr lang="en-IN"/>
          </a:p>
        </p:txBody>
      </p:sp>
    </p:spTree>
    <p:extLst>
      <p:ext uri="{BB962C8B-B14F-4D97-AF65-F5344CB8AC3E}">
        <p14:creationId xmlns:p14="http://schemas.microsoft.com/office/powerpoint/2010/main" val="108791802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hyperlink" Target="https://docs.snowflake.com/en/user-guide/intro-key-concepts" TargetMode="Externa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hyperlink" Target="https://docs.snowflake.com/en/user-guide/warehouses" TargetMode="Externa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hyperlink" Target="https://docs.snowflake.com/en/user-guide/intro-editions#label-snowflake-editions-standard" TargetMode="Externa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hyperlink" Target="https://docs.snowflake.com/en/user-guide/intro-editions#label-snowflake-editions-business-critical" TargetMode="External"/><Relationship Id="rId2" Type="http://schemas.openxmlformats.org/officeDocument/2006/relationships/hyperlink" Target="https://docs.snowflake.com/en/user-guide/intro-editions#label-snowflake-editions-enterprise" TargetMode="Externa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8FB7F5-149A-53C5-98BF-69CCA606F31E}"/>
              </a:ext>
            </a:extLst>
          </p:cNvPr>
          <p:cNvSpPr>
            <a:spLocks noGrp="1"/>
          </p:cNvSpPr>
          <p:nvPr>
            <p:ph type="ctrTitle"/>
          </p:nvPr>
        </p:nvSpPr>
        <p:spPr>
          <a:xfrm>
            <a:off x="1524000" y="1122362"/>
            <a:ext cx="9144000" cy="3547961"/>
          </a:xfrm>
        </p:spPr>
        <p:txBody>
          <a:bodyPr/>
          <a:lstStyle/>
          <a:p>
            <a:r>
              <a:rPr lang="en-IN" b="1" dirty="0"/>
              <a:t>What is Snowflake?</a:t>
            </a:r>
            <a:br>
              <a:rPr lang="en-IN" b="1" dirty="0"/>
            </a:br>
            <a:endParaRPr lang="en-IN" dirty="0"/>
          </a:p>
        </p:txBody>
      </p:sp>
      <p:sp>
        <p:nvSpPr>
          <p:cNvPr id="3" name="Subtitle 2">
            <a:extLst>
              <a:ext uri="{FF2B5EF4-FFF2-40B4-BE49-F238E27FC236}">
                <a16:creationId xmlns:a16="http://schemas.microsoft.com/office/drawing/2014/main" id="{30245147-BB20-766A-40C3-68D075931289}"/>
              </a:ext>
            </a:extLst>
          </p:cNvPr>
          <p:cNvSpPr>
            <a:spLocks noGrp="1"/>
          </p:cNvSpPr>
          <p:nvPr>
            <p:ph type="subTitle" idx="1"/>
          </p:nvPr>
        </p:nvSpPr>
        <p:spPr/>
        <p:txBody>
          <a:bodyPr/>
          <a:lstStyle/>
          <a:p>
            <a:endParaRPr lang="en-IN" dirty="0"/>
          </a:p>
        </p:txBody>
      </p:sp>
    </p:spTree>
    <p:extLst>
      <p:ext uri="{BB962C8B-B14F-4D97-AF65-F5344CB8AC3E}">
        <p14:creationId xmlns:p14="http://schemas.microsoft.com/office/powerpoint/2010/main" val="370178540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C7A38631-72B8-F3CE-6C43-29C888A5BF01}"/>
              </a:ext>
            </a:extLst>
          </p:cNvPr>
          <p:cNvSpPr txBox="1"/>
          <p:nvPr/>
        </p:nvSpPr>
        <p:spPr>
          <a:xfrm>
            <a:off x="727587" y="1140543"/>
            <a:ext cx="10569678" cy="5078313"/>
          </a:xfrm>
          <a:prstGeom prst="rect">
            <a:avLst/>
          </a:prstGeom>
          <a:noFill/>
        </p:spPr>
        <p:txBody>
          <a:bodyPr wrap="square">
            <a:spAutoFit/>
          </a:bodyPr>
          <a:lstStyle/>
          <a:p>
            <a:pPr marL="285750" indent="-285750">
              <a:buFont typeface="Arial" panose="020B0604020202020204" pitchFamily="34" charset="0"/>
              <a:buChar char="•"/>
            </a:pPr>
            <a:r>
              <a:rPr lang="en-US" sz="3600" b="0" i="0" dirty="0">
                <a:solidFill>
                  <a:srgbClr val="273239"/>
                </a:solidFill>
                <a:effectLst/>
                <a:latin typeface="Times New Roman" panose="02020603050405020304" pitchFamily="18" charset="0"/>
                <a:cs typeface="Times New Roman" panose="02020603050405020304" pitchFamily="18" charset="0"/>
              </a:rPr>
              <a:t>Snowflake is a cloud-based data warehousing platform known for its scalability and flexibility.</a:t>
            </a:r>
          </a:p>
          <a:p>
            <a:endParaRPr lang="en-US" sz="3600" b="0" i="0" dirty="0">
              <a:solidFill>
                <a:srgbClr val="273239"/>
              </a:solidFill>
              <a:effectLst/>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sz="3600" dirty="0">
                <a:latin typeface="Times New Roman" panose="02020603050405020304" pitchFamily="18" charset="0"/>
                <a:cs typeface="Times New Roman" panose="02020603050405020304" pitchFamily="18" charset="0"/>
              </a:rPr>
              <a:t> Snowflake provides a robust solution for storing, managing/processing, and analyzing large datasets in the cloud.</a:t>
            </a:r>
          </a:p>
          <a:p>
            <a:pPr marL="285750" indent="-285750">
              <a:buFont typeface="Arial" panose="020B0604020202020204" pitchFamily="34" charset="0"/>
              <a:buChar char="•"/>
            </a:pPr>
            <a:endParaRPr lang="en-US" sz="360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sz="3600" dirty="0">
                <a:latin typeface="Times New Roman" panose="02020603050405020304" pitchFamily="18" charset="0"/>
                <a:cs typeface="Times New Roman" panose="02020603050405020304" pitchFamily="18" charset="0"/>
              </a:rPr>
              <a:t>It works on structured, unstructured and semi-structured data’s</a:t>
            </a:r>
            <a:endParaRPr lang="en-IN" sz="3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40754131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01BC84B9-56BE-C104-0945-AFA8F3DD65E9}"/>
              </a:ext>
            </a:extLst>
          </p:cNvPr>
          <p:cNvSpPr txBox="1"/>
          <p:nvPr/>
        </p:nvSpPr>
        <p:spPr>
          <a:xfrm>
            <a:off x="727587" y="747252"/>
            <a:ext cx="11090787" cy="4619854"/>
          </a:xfrm>
          <a:prstGeom prst="rect">
            <a:avLst/>
          </a:prstGeom>
          <a:noFill/>
        </p:spPr>
        <p:txBody>
          <a:bodyPr wrap="square">
            <a:spAutoFit/>
          </a:bodyPr>
          <a:lstStyle/>
          <a:p>
            <a:pPr marL="285750" indent="-285750">
              <a:lnSpc>
                <a:spcPct val="150000"/>
              </a:lnSpc>
              <a:buFont typeface="Arial" panose="020B0604020202020204" pitchFamily="34" charset="0"/>
              <a:buChar char="•"/>
            </a:pPr>
            <a:r>
              <a:rPr lang="en-US" sz="3600" b="0" i="0" dirty="0">
                <a:solidFill>
                  <a:srgbClr val="000000"/>
                </a:solidFill>
                <a:effectLst/>
                <a:latin typeface="Times New Roman" panose="02020603050405020304" pitchFamily="18" charset="0"/>
                <a:cs typeface="Times New Roman" panose="02020603050405020304" pitchFamily="18" charset="0"/>
              </a:rPr>
              <a:t>Snowflake is a Software-as-a-Service (SaaS)</a:t>
            </a:r>
            <a:r>
              <a:rPr lang="en-US" sz="3600" dirty="0">
                <a:solidFill>
                  <a:srgbClr val="000000"/>
                </a:solidFill>
                <a:latin typeface="Times New Roman" panose="02020603050405020304" pitchFamily="18" charset="0"/>
                <a:cs typeface="Times New Roman" panose="02020603050405020304" pitchFamily="18" charset="0"/>
              </a:rPr>
              <a:t>, </a:t>
            </a:r>
            <a:r>
              <a:rPr lang="en-US" sz="3600" dirty="0" err="1">
                <a:solidFill>
                  <a:srgbClr val="000000"/>
                </a:solidFill>
                <a:latin typeface="Times New Roman" panose="02020603050405020304" pitchFamily="18" charset="0"/>
                <a:cs typeface="Times New Roman" panose="02020603050405020304" pitchFamily="18" charset="0"/>
              </a:rPr>
              <a:t>ie</a:t>
            </a:r>
            <a:r>
              <a:rPr lang="en-US" sz="3600" dirty="0">
                <a:solidFill>
                  <a:srgbClr val="000000"/>
                </a:solidFill>
                <a:latin typeface="Times New Roman" panose="02020603050405020304" pitchFamily="18" charset="0"/>
                <a:cs typeface="Times New Roman" panose="02020603050405020304" pitchFamily="18" charset="0"/>
              </a:rPr>
              <a:t> the software is already built and accessible via internet</a:t>
            </a:r>
          </a:p>
          <a:p>
            <a:pPr marL="285750" indent="-285750">
              <a:lnSpc>
                <a:spcPct val="150000"/>
              </a:lnSpc>
              <a:buFont typeface="Arial" panose="020B0604020202020204" pitchFamily="34" charset="0"/>
              <a:buChar char="•"/>
            </a:pPr>
            <a:r>
              <a:rPr lang="en-US" sz="3600" dirty="0">
                <a:latin typeface="Times New Roman" panose="02020603050405020304" pitchFamily="18" charset="0"/>
                <a:cs typeface="Times New Roman" panose="02020603050405020304" pitchFamily="18" charset="0"/>
              </a:rPr>
              <a:t> Its architecture separates compute from storage, allowing organizations to scale each independently and pay only for what they use.</a:t>
            </a:r>
            <a:r>
              <a:rPr lang="en-US" sz="3600" dirty="0">
                <a:solidFill>
                  <a:srgbClr val="000000"/>
                </a:solidFill>
                <a:latin typeface="Times New Roman" panose="02020603050405020304" pitchFamily="18" charset="0"/>
                <a:cs typeface="Times New Roman" panose="02020603050405020304" pitchFamily="18" charset="0"/>
              </a:rPr>
              <a:t>.</a:t>
            </a:r>
          </a:p>
          <a:p>
            <a:pPr>
              <a:lnSpc>
                <a:spcPct val="150000"/>
              </a:lnSpc>
            </a:pPr>
            <a:r>
              <a:rPr lang="en-US" b="0" i="0" dirty="0">
                <a:solidFill>
                  <a:srgbClr val="000000"/>
                </a:solidFill>
                <a:effectLst/>
                <a:latin typeface="Inter"/>
              </a:rPr>
              <a:t> </a:t>
            </a:r>
            <a:endParaRPr lang="en-IN" dirty="0"/>
          </a:p>
        </p:txBody>
      </p:sp>
    </p:spTree>
    <p:extLst>
      <p:ext uri="{BB962C8B-B14F-4D97-AF65-F5344CB8AC3E}">
        <p14:creationId xmlns:p14="http://schemas.microsoft.com/office/powerpoint/2010/main" val="204186943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298D014E-8803-1065-CEA1-4D3F97A9F36B}"/>
              </a:ext>
            </a:extLst>
          </p:cNvPr>
          <p:cNvGraphicFramePr>
            <a:graphicFrameLocks noGrp="1"/>
          </p:cNvGraphicFramePr>
          <p:nvPr>
            <p:extLst>
              <p:ext uri="{D42A27DB-BD31-4B8C-83A1-F6EECF244321}">
                <p14:modId xmlns:p14="http://schemas.microsoft.com/office/powerpoint/2010/main" val="837469862"/>
              </p:ext>
            </p:extLst>
          </p:nvPr>
        </p:nvGraphicFramePr>
        <p:xfrm>
          <a:off x="838200" y="695091"/>
          <a:ext cx="10832690" cy="4134678"/>
        </p:xfrm>
        <a:graphic>
          <a:graphicData uri="http://schemas.openxmlformats.org/drawingml/2006/table">
            <a:tbl>
              <a:tblPr/>
              <a:tblGrid>
                <a:gridCol w="3515922">
                  <a:extLst>
                    <a:ext uri="{9D8B030D-6E8A-4147-A177-3AD203B41FA5}">
                      <a16:colId xmlns:a16="http://schemas.microsoft.com/office/drawing/2014/main" val="955841128"/>
                    </a:ext>
                  </a:extLst>
                </a:gridCol>
                <a:gridCol w="3658384">
                  <a:extLst>
                    <a:ext uri="{9D8B030D-6E8A-4147-A177-3AD203B41FA5}">
                      <a16:colId xmlns:a16="http://schemas.microsoft.com/office/drawing/2014/main" val="1193731226"/>
                    </a:ext>
                  </a:extLst>
                </a:gridCol>
                <a:gridCol w="3658384">
                  <a:extLst>
                    <a:ext uri="{9D8B030D-6E8A-4147-A177-3AD203B41FA5}">
                      <a16:colId xmlns:a16="http://schemas.microsoft.com/office/drawing/2014/main" val="138429254"/>
                    </a:ext>
                  </a:extLst>
                </a:gridCol>
              </a:tblGrid>
              <a:tr h="0">
                <a:tc>
                  <a:txBody>
                    <a:bodyPr/>
                    <a:lstStyle/>
                    <a:p>
                      <a:pPr algn="l">
                        <a:buNone/>
                      </a:pPr>
                      <a:endParaRPr lang="en-IN" sz="1600" dirty="0">
                        <a:solidFill>
                          <a:srgbClr val="FFFFFF"/>
                        </a:solidFill>
                        <a:effectLst/>
                      </a:endParaRPr>
                    </a:p>
                  </a:txBody>
                  <a:tcPr marL="79115" marR="79115" marT="39558" marB="39558" anchor="ctr">
                    <a:lnL w="7620" cap="flat" cmpd="sng" algn="ctr">
                      <a:solidFill>
                        <a:srgbClr val="FFFFFF"/>
                      </a:solidFill>
                      <a:prstDash val="solid"/>
                      <a:round/>
                      <a:headEnd type="none" w="med" len="med"/>
                      <a:tailEnd type="none" w="med" len="med"/>
                    </a:lnL>
                    <a:lnR w="7620" cap="flat" cmpd="sng" algn="ctr">
                      <a:solidFill>
                        <a:srgbClr val="FFFFFF"/>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000000"/>
                      </a:solidFill>
                      <a:prstDash val="solid"/>
                      <a:round/>
                      <a:headEnd type="none" w="med" len="med"/>
                      <a:tailEnd type="none" w="med" len="med"/>
                    </a:lnB>
                    <a:solidFill>
                      <a:srgbClr val="000000"/>
                    </a:solidFill>
                  </a:tcPr>
                </a:tc>
                <a:tc>
                  <a:txBody>
                    <a:bodyPr/>
                    <a:lstStyle/>
                    <a:p>
                      <a:pPr algn="l">
                        <a:buNone/>
                      </a:pPr>
                      <a:r>
                        <a:rPr lang="en-IN" sz="1600" dirty="0">
                          <a:solidFill>
                            <a:srgbClr val="FFFFFF"/>
                          </a:solidFill>
                          <a:effectLst/>
                        </a:rPr>
                        <a:t>Traditional Data Warehouses</a:t>
                      </a:r>
                    </a:p>
                  </a:txBody>
                  <a:tcPr marL="79115" marR="79115" marT="39558" marB="39558" anchor="ctr">
                    <a:lnL w="7620" cap="flat" cmpd="sng" algn="ctr">
                      <a:solidFill>
                        <a:srgbClr val="FFFFFF"/>
                      </a:solidFill>
                      <a:prstDash val="solid"/>
                      <a:round/>
                      <a:headEnd type="none" w="med" len="med"/>
                      <a:tailEnd type="none" w="med" len="med"/>
                    </a:lnL>
                    <a:lnR w="7620" cap="flat" cmpd="sng" algn="ctr">
                      <a:solidFill>
                        <a:srgbClr val="FFFFFF"/>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000000"/>
                      </a:solidFill>
                      <a:prstDash val="solid"/>
                      <a:round/>
                      <a:headEnd type="none" w="med" len="med"/>
                      <a:tailEnd type="none" w="med" len="med"/>
                    </a:lnB>
                    <a:solidFill>
                      <a:srgbClr val="000000"/>
                    </a:solidFill>
                  </a:tcPr>
                </a:tc>
                <a:tc>
                  <a:txBody>
                    <a:bodyPr/>
                    <a:lstStyle/>
                    <a:p>
                      <a:pPr algn="l">
                        <a:buNone/>
                      </a:pPr>
                      <a:r>
                        <a:rPr lang="en-IN" sz="1600" dirty="0">
                          <a:solidFill>
                            <a:srgbClr val="FFFFFF"/>
                          </a:solidFill>
                          <a:effectLst/>
                        </a:rPr>
                        <a:t>Snowflake</a:t>
                      </a:r>
                    </a:p>
                  </a:txBody>
                  <a:tcPr marL="79115" marR="79115" marT="39558" marB="39558" anchor="ctr">
                    <a:lnL w="7620" cap="flat" cmpd="sng" algn="ctr">
                      <a:solidFill>
                        <a:srgbClr val="FFFFFF"/>
                      </a:solidFill>
                      <a:prstDash val="solid"/>
                      <a:round/>
                      <a:headEnd type="none" w="med" len="med"/>
                      <a:tailEnd type="none" w="med" len="med"/>
                    </a:lnL>
                    <a:lnR w="7620" cap="flat" cmpd="sng" algn="ctr">
                      <a:solidFill>
                        <a:srgbClr val="FFFFFF"/>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000000"/>
                      </a:solidFill>
                      <a:prstDash val="solid"/>
                      <a:round/>
                      <a:headEnd type="none" w="med" len="med"/>
                      <a:tailEnd type="none" w="med" len="med"/>
                    </a:lnB>
                    <a:solidFill>
                      <a:srgbClr val="000000"/>
                    </a:solidFill>
                  </a:tcPr>
                </a:tc>
                <a:extLst>
                  <a:ext uri="{0D108BD9-81ED-4DB2-BD59-A6C34878D82A}">
                    <a16:rowId xmlns:a16="http://schemas.microsoft.com/office/drawing/2014/main" val="1488690777"/>
                  </a:ext>
                </a:extLst>
              </a:tr>
              <a:tr h="435811">
                <a:tc>
                  <a:txBody>
                    <a:bodyPr/>
                    <a:lstStyle/>
                    <a:p>
                      <a:pPr algn="l">
                        <a:buNone/>
                      </a:pPr>
                      <a:r>
                        <a:rPr lang="en-IN" sz="1600" dirty="0">
                          <a:effectLst/>
                        </a:rPr>
                        <a:t>Storage &amp; Compute</a:t>
                      </a:r>
                    </a:p>
                  </a:txBody>
                  <a:tcPr marL="79115" marR="79115" marT="39558" marB="39558" anchor="ctr">
                    <a:lnL w="7620" cap="flat" cmpd="sng" algn="ctr">
                      <a:solidFill>
                        <a:srgbClr val="000000"/>
                      </a:solidFill>
                      <a:prstDash val="solid"/>
                      <a:round/>
                      <a:headEnd type="none" w="med" len="med"/>
                      <a:tailEnd type="none" w="med" len="med"/>
                    </a:lnL>
                    <a:lnR w="7620" cap="flat" cmpd="sng" algn="ctr">
                      <a:solidFill>
                        <a:srgbClr val="000000"/>
                      </a:solidFill>
                      <a:prstDash val="solid"/>
                      <a:round/>
                      <a:headEnd type="none" w="med" len="med"/>
                      <a:tailEnd type="none" w="med" len="med"/>
                    </a:lnR>
                    <a:lnT w="7620" cap="flat" cmpd="sng" algn="ctr">
                      <a:solidFill>
                        <a:srgbClr val="000000"/>
                      </a:solidFill>
                      <a:prstDash val="solid"/>
                      <a:round/>
                      <a:headEnd type="none" w="med" len="med"/>
                      <a:tailEnd type="none" w="med" len="med"/>
                    </a:lnT>
                    <a:lnB w="7620" cap="flat" cmpd="sng" algn="ctr">
                      <a:solidFill>
                        <a:srgbClr val="000000"/>
                      </a:solidFill>
                      <a:prstDash val="solid"/>
                      <a:round/>
                      <a:headEnd type="none" w="med" len="med"/>
                      <a:tailEnd type="none" w="med" len="med"/>
                    </a:lnB>
                    <a:solidFill>
                      <a:srgbClr val="FFFFFF"/>
                    </a:solidFill>
                  </a:tcPr>
                </a:tc>
                <a:tc>
                  <a:txBody>
                    <a:bodyPr/>
                    <a:lstStyle/>
                    <a:p>
                      <a:pPr algn="l">
                        <a:buNone/>
                      </a:pPr>
                      <a:r>
                        <a:rPr lang="en-IN" sz="1600" dirty="0">
                          <a:effectLst/>
                        </a:rPr>
                        <a:t>Tightly coupled, high cost</a:t>
                      </a:r>
                    </a:p>
                  </a:txBody>
                  <a:tcPr marL="79115" marR="79115" marT="39558" marB="39558" anchor="ctr">
                    <a:lnL w="7620" cap="flat" cmpd="sng" algn="ctr">
                      <a:solidFill>
                        <a:srgbClr val="000000"/>
                      </a:solidFill>
                      <a:prstDash val="solid"/>
                      <a:round/>
                      <a:headEnd type="none" w="med" len="med"/>
                      <a:tailEnd type="none" w="med" len="med"/>
                    </a:lnL>
                    <a:lnR w="7620" cap="flat" cmpd="sng" algn="ctr">
                      <a:solidFill>
                        <a:srgbClr val="000000"/>
                      </a:solidFill>
                      <a:prstDash val="solid"/>
                      <a:round/>
                      <a:headEnd type="none" w="med" len="med"/>
                      <a:tailEnd type="none" w="med" len="med"/>
                    </a:lnR>
                    <a:lnT w="7620" cap="flat" cmpd="sng" algn="ctr">
                      <a:solidFill>
                        <a:srgbClr val="000000"/>
                      </a:solidFill>
                      <a:prstDash val="solid"/>
                      <a:round/>
                      <a:headEnd type="none" w="med" len="med"/>
                      <a:tailEnd type="none" w="med" len="med"/>
                    </a:lnT>
                    <a:lnB w="7620" cap="flat" cmpd="sng" algn="ctr">
                      <a:solidFill>
                        <a:srgbClr val="000000"/>
                      </a:solidFill>
                      <a:prstDash val="solid"/>
                      <a:round/>
                      <a:headEnd type="none" w="med" len="med"/>
                      <a:tailEnd type="none" w="med" len="med"/>
                    </a:lnB>
                    <a:solidFill>
                      <a:srgbClr val="FFFFFF"/>
                    </a:solidFill>
                  </a:tcPr>
                </a:tc>
                <a:tc>
                  <a:txBody>
                    <a:bodyPr/>
                    <a:lstStyle/>
                    <a:p>
                      <a:pPr algn="l">
                        <a:buNone/>
                      </a:pPr>
                      <a:r>
                        <a:rPr lang="en-IN" sz="1600">
                          <a:effectLst/>
                        </a:rPr>
                        <a:t>Separated, cost-efficient</a:t>
                      </a:r>
                    </a:p>
                  </a:txBody>
                  <a:tcPr marL="79115" marR="79115" marT="39558" marB="39558" anchor="ctr">
                    <a:lnL w="7620" cap="flat" cmpd="sng" algn="ctr">
                      <a:solidFill>
                        <a:srgbClr val="000000"/>
                      </a:solidFill>
                      <a:prstDash val="solid"/>
                      <a:round/>
                      <a:headEnd type="none" w="med" len="med"/>
                      <a:tailEnd type="none" w="med" len="med"/>
                    </a:lnL>
                    <a:lnR w="7620" cap="flat" cmpd="sng" algn="ctr">
                      <a:solidFill>
                        <a:srgbClr val="000000"/>
                      </a:solidFill>
                      <a:prstDash val="solid"/>
                      <a:round/>
                      <a:headEnd type="none" w="med" len="med"/>
                      <a:tailEnd type="none" w="med" len="med"/>
                    </a:lnR>
                    <a:lnT w="7620" cap="flat" cmpd="sng" algn="ctr">
                      <a:solidFill>
                        <a:srgbClr val="000000"/>
                      </a:solidFill>
                      <a:prstDash val="solid"/>
                      <a:round/>
                      <a:headEnd type="none" w="med" len="med"/>
                      <a:tailEnd type="none" w="med" len="med"/>
                    </a:lnT>
                    <a:lnB w="762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3738187556"/>
                  </a:ext>
                </a:extLst>
              </a:tr>
              <a:tr h="435811">
                <a:tc>
                  <a:txBody>
                    <a:bodyPr/>
                    <a:lstStyle/>
                    <a:p>
                      <a:pPr algn="l">
                        <a:buNone/>
                      </a:pPr>
                      <a:r>
                        <a:rPr lang="en-IN" sz="1600" dirty="0">
                          <a:effectLst/>
                        </a:rPr>
                        <a:t>Scalability</a:t>
                      </a:r>
                    </a:p>
                  </a:txBody>
                  <a:tcPr marL="79115" marR="79115" marT="39558" marB="39558" anchor="ctr">
                    <a:lnL w="7620" cap="flat" cmpd="sng" algn="ctr">
                      <a:solidFill>
                        <a:srgbClr val="000000"/>
                      </a:solidFill>
                      <a:prstDash val="solid"/>
                      <a:round/>
                      <a:headEnd type="none" w="med" len="med"/>
                      <a:tailEnd type="none" w="med" len="med"/>
                    </a:lnL>
                    <a:lnR w="7620" cap="flat" cmpd="sng" algn="ctr">
                      <a:solidFill>
                        <a:srgbClr val="000000"/>
                      </a:solidFill>
                      <a:prstDash val="solid"/>
                      <a:round/>
                      <a:headEnd type="none" w="med" len="med"/>
                      <a:tailEnd type="none" w="med" len="med"/>
                    </a:lnR>
                    <a:lnT w="7620" cap="flat" cmpd="sng" algn="ctr">
                      <a:solidFill>
                        <a:srgbClr val="000000"/>
                      </a:solidFill>
                      <a:prstDash val="solid"/>
                      <a:round/>
                      <a:headEnd type="none" w="med" len="med"/>
                      <a:tailEnd type="none" w="med" len="med"/>
                    </a:lnT>
                    <a:lnB w="7620" cap="flat" cmpd="sng" algn="ctr">
                      <a:solidFill>
                        <a:srgbClr val="000000"/>
                      </a:solidFill>
                      <a:prstDash val="solid"/>
                      <a:round/>
                      <a:headEnd type="none" w="med" len="med"/>
                      <a:tailEnd type="none" w="med" len="med"/>
                    </a:lnB>
                    <a:solidFill>
                      <a:srgbClr val="FFFFFF"/>
                    </a:solidFill>
                  </a:tcPr>
                </a:tc>
                <a:tc>
                  <a:txBody>
                    <a:bodyPr/>
                    <a:lstStyle/>
                    <a:p>
                      <a:pPr algn="l">
                        <a:buNone/>
                      </a:pPr>
                      <a:r>
                        <a:rPr lang="en-IN" sz="1600" dirty="0">
                          <a:effectLst/>
                        </a:rPr>
                        <a:t>Limited, hardware-dependent</a:t>
                      </a:r>
                    </a:p>
                  </a:txBody>
                  <a:tcPr marL="79115" marR="79115" marT="39558" marB="39558" anchor="ctr">
                    <a:lnL w="7620" cap="flat" cmpd="sng" algn="ctr">
                      <a:solidFill>
                        <a:srgbClr val="000000"/>
                      </a:solidFill>
                      <a:prstDash val="solid"/>
                      <a:round/>
                      <a:headEnd type="none" w="med" len="med"/>
                      <a:tailEnd type="none" w="med" len="med"/>
                    </a:lnL>
                    <a:lnR w="7620" cap="flat" cmpd="sng" algn="ctr">
                      <a:solidFill>
                        <a:srgbClr val="000000"/>
                      </a:solidFill>
                      <a:prstDash val="solid"/>
                      <a:round/>
                      <a:headEnd type="none" w="med" len="med"/>
                      <a:tailEnd type="none" w="med" len="med"/>
                    </a:lnR>
                    <a:lnT w="7620" cap="flat" cmpd="sng" algn="ctr">
                      <a:solidFill>
                        <a:srgbClr val="000000"/>
                      </a:solidFill>
                      <a:prstDash val="solid"/>
                      <a:round/>
                      <a:headEnd type="none" w="med" len="med"/>
                      <a:tailEnd type="none" w="med" len="med"/>
                    </a:lnT>
                    <a:lnB w="7620" cap="flat" cmpd="sng" algn="ctr">
                      <a:solidFill>
                        <a:srgbClr val="000000"/>
                      </a:solidFill>
                      <a:prstDash val="solid"/>
                      <a:round/>
                      <a:headEnd type="none" w="med" len="med"/>
                      <a:tailEnd type="none" w="med" len="med"/>
                    </a:lnB>
                    <a:solidFill>
                      <a:srgbClr val="FFFFFF"/>
                    </a:solidFill>
                  </a:tcPr>
                </a:tc>
                <a:tc>
                  <a:txBody>
                    <a:bodyPr/>
                    <a:lstStyle/>
                    <a:p>
                      <a:pPr algn="l">
                        <a:buNone/>
                      </a:pPr>
                      <a:r>
                        <a:rPr lang="en-IN" sz="1600">
                          <a:effectLst/>
                        </a:rPr>
                        <a:t>Elastic, on-demand scaling</a:t>
                      </a:r>
                    </a:p>
                  </a:txBody>
                  <a:tcPr marL="79115" marR="79115" marT="39558" marB="39558" anchor="ctr">
                    <a:lnL w="7620" cap="flat" cmpd="sng" algn="ctr">
                      <a:solidFill>
                        <a:srgbClr val="000000"/>
                      </a:solidFill>
                      <a:prstDash val="solid"/>
                      <a:round/>
                      <a:headEnd type="none" w="med" len="med"/>
                      <a:tailEnd type="none" w="med" len="med"/>
                    </a:lnL>
                    <a:lnR w="7620" cap="flat" cmpd="sng" algn="ctr">
                      <a:solidFill>
                        <a:srgbClr val="000000"/>
                      </a:solidFill>
                      <a:prstDash val="solid"/>
                      <a:round/>
                      <a:headEnd type="none" w="med" len="med"/>
                      <a:tailEnd type="none" w="med" len="med"/>
                    </a:lnR>
                    <a:lnT w="7620" cap="flat" cmpd="sng" algn="ctr">
                      <a:solidFill>
                        <a:srgbClr val="000000"/>
                      </a:solidFill>
                      <a:prstDash val="solid"/>
                      <a:round/>
                      <a:headEnd type="none" w="med" len="med"/>
                      <a:tailEnd type="none" w="med" len="med"/>
                    </a:lnT>
                    <a:lnB w="762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2350495128"/>
                  </a:ext>
                </a:extLst>
              </a:tr>
              <a:tr h="764862">
                <a:tc>
                  <a:txBody>
                    <a:bodyPr/>
                    <a:lstStyle/>
                    <a:p>
                      <a:pPr algn="l">
                        <a:buNone/>
                      </a:pPr>
                      <a:r>
                        <a:rPr lang="en-IN" sz="1600" dirty="0">
                          <a:effectLst/>
                        </a:rPr>
                        <a:t>Performance</a:t>
                      </a:r>
                    </a:p>
                  </a:txBody>
                  <a:tcPr marL="79115" marR="79115" marT="39558" marB="39558" anchor="ctr">
                    <a:lnL w="7620" cap="flat" cmpd="sng" algn="ctr">
                      <a:solidFill>
                        <a:srgbClr val="000000"/>
                      </a:solidFill>
                      <a:prstDash val="solid"/>
                      <a:round/>
                      <a:headEnd type="none" w="med" len="med"/>
                      <a:tailEnd type="none" w="med" len="med"/>
                    </a:lnL>
                    <a:lnR w="7620" cap="flat" cmpd="sng" algn="ctr">
                      <a:solidFill>
                        <a:srgbClr val="000000"/>
                      </a:solidFill>
                      <a:prstDash val="solid"/>
                      <a:round/>
                      <a:headEnd type="none" w="med" len="med"/>
                      <a:tailEnd type="none" w="med" len="med"/>
                    </a:lnR>
                    <a:lnT w="7620" cap="flat" cmpd="sng" algn="ctr">
                      <a:solidFill>
                        <a:srgbClr val="000000"/>
                      </a:solidFill>
                      <a:prstDash val="solid"/>
                      <a:round/>
                      <a:headEnd type="none" w="med" len="med"/>
                      <a:tailEnd type="none" w="med" len="med"/>
                    </a:lnT>
                    <a:lnB w="7620" cap="flat" cmpd="sng" algn="ctr">
                      <a:solidFill>
                        <a:srgbClr val="000000"/>
                      </a:solidFill>
                      <a:prstDash val="solid"/>
                      <a:round/>
                      <a:headEnd type="none" w="med" len="med"/>
                      <a:tailEnd type="none" w="med" len="med"/>
                    </a:lnB>
                    <a:solidFill>
                      <a:srgbClr val="FFFFFF"/>
                    </a:solidFill>
                  </a:tcPr>
                </a:tc>
                <a:tc>
                  <a:txBody>
                    <a:bodyPr/>
                    <a:lstStyle/>
                    <a:p>
                      <a:pPr algn="l">
                        <a:buNone/>
                      </a:pPr>
                      <a:r>
                        <a:rPr lang="en-IN" sz="1600" dirty="0">
                          <a:effectLst/>
                        </a:rPr>
                        <a:t>Bottlenecks with high workloads</a:t>
                      </a:r>
                    </a:p>
                  </a:txBody>
                  <a:tcPr marL="79115" marR="79115" marT="39558" marB="39558" anchor="ctr">
                    <a:lnL w="7620" cap="flat" cmpd="sng" algn="ctr">
                      <a:solidFill>
                        <a:srgbClr val="000000"/>
                      </a:solidFill>
                      <a:prstDash val="solid"/>
                      <a:round/>
                      <a:headEnd type="none" w="med" len="med"/>
                      <a:tailEnd type="none" w="med" len="med"/>
                    </a:lnL>
                    <a:lnR w="7620" cap="flat" cmpd="sng" algn="ctr">
                      <a:solidFill>
                        <a:srgbClr val="000000"/>
                      </a:solidFill>
                      <a:prstDash val="solid"/>
                      <a:round/>
                      <a:headEnd type="none" w="med" len="med"/>
                      <a:tailEnd type="none" w="med" len="med"/>
                    </a:lnR>
                    <a:lnT w="7620" cap="flat" cmpd="sng" algn="ctr">
                      <a:solidFill>
                        <a:srgbClr val="000000"/>
                      </a:solidFill>
                      <a:prstDash val="solid"/>
                      <a:round/>
                      <a:headEnd type="none" w="med" len="med"/>
                      <a:tailEnd type="none" w="med" len="med"/>
                    </a:lnT>
                    <a:lnB w="7620" cap="flat" cmpd="sng" algn="ctr">
                      <a:solidFill>
                        <a:srgbClr val="000000"/>
                      </a:solidFill>
                      <a:prstDash val="solid"/>
                      <a:round/>
                      <a:headEnd type="none" w="med" len="med"/>
                      <a:tailEnd type="none" w="med" len="med"/>
                    </a:lnB>
                    <a:solidFill>
                      <a:srgbClr val="FFFFFF"/>
                    </a:solidFill>
                  </a:tcPr>
                </a:tc>
                <a:tc>
                  <a:txBody>
                    <a:bodyPr/>
                    <a:lstStyle/>
                    <a:p>
                      <a:pPr algn="l">
                        <a:buNone/>
                      </a:pPr>
                      <a:r>
                        <a:rPr lang="en-IN" sz="1600">
                          <a:effectLst/>
                        </a:rPr>
                        <a:t>Multi-cluster compute, no slowdowns</a:t>
                      </a:r>
                    </a:p>
                  </a:txBody>
                  <a:tcPr marL="79115" marR="79115" marT="39558" marB="39558" anchor="ctr">
                    <a:lnL w="7620" cap="flat" cmpd="sng" algn="ctr">
                      <a:solidFill>
                        <a:srgbClr val="000000"/>
                      </a:solidFill>
                      <a:prstDash val="solid"/>
                      <a:round/>
                      <a:headEnd type="none" w="med" len="med"/>
                      <a:tailEnd type="none" w="med" len="med"/>
                    </a:lnL>
                    <a:lnR w="7620" cap="flat" cmpd="sng" algn="ctr">
                      <a:solidFill>
                        <a:srgbClr val="000000"/>
                      </a:solidFill>
                      <a:prstDash val="solid"/>
                      <a:round/>
                      <a:headEnd type="none" w="med" len="med"/>
                      <a:tailEnd type="none" w="med" len="med"/>
                    </a:lnR>
                    <a:lnT w="7620" cap="flat" cmpd="sng" algn="ctr">
                      <a:solidFill>
                        <a:srgbClr val="000000"/>
                      </a:solidFill>
                      <a:prstDash val="solid"/>
                      <a:round/>
                      <a:headEnd type="none" w="med" len="med"/>
                      <a:tailEnd type="none" w="med" len="med"/>
                    </a:lnT>
                    <a:lnB w="762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314086536"/>
                  </a:ext>
                </a:extLst>
              </a:tr>
              <a:tr h="764862">
                <a:tc>
                  <a:txBody>
                    <a:bodyPr/>
                    <a:lstStyle/>
                    <a:p>
                      <a:pPr algn="l">
                        <a:buNone/>
                      </a:pPr>
                      <a:r>
                        <a:rPr lang="en-IN" sz="1600" dirty="0">
                          <a:effectLst/>
                        </a:rPr>
                        <a:t>Data Handling</a:t>
                      </a:r>
                    </a:p>
                  </a:txBody>
                  <a:tcPr marL="79115" marR="79115" marT="39558" marB="39558" anchor="ctr">
                    <a:lnL w="7620" cap="flat" cmpd="sng" algn="ctr">
                      <a:solidFill>
                        <a:srgbClr val="000000"/>
                      </a:solidFill>
                      <a:prstDash val="solid"/>
                      <a:round/>
                      <a:headEnd type="none" w="med" len="med"/>
                      <a:tailEnd type="none" w="med" len="med"/>
                    </a:lnL>
                    <a:lnR w="7620" cap="flat" cmpd="sng" algn="ctr">
                      <a:solidFill>
                        <a:srgbClr val="000000"/>
                      </a:solidFill>
                      <a:prstDash val="solid"/>
                      <a:round/>
                      <a:headEnd type="none" w="med" len="med"/>
                      <a:tailEnd type="none" w="med" len="med"/>
                    </a:lnR>
                    <a:lnT w="7620" cap="flat" cmpd="sng" algn="ctr">
                      <a:solidFill>
                        <a:srgbClr val="000000"/>
                      </a:solidFill>
                      <a:prstDash val="solid"/>
                      <a:round/>
                      <a:headEnd type="none" w="med" len="med"/>
                      <a:tailEnd type="none" w="med" len="med"/>
                    </a:lnT>
                    <a:lnB w="7620" cap="flat" cmpd="sng" algn="ctr">
                      <a:solidFill>
                        <a:srgbClr val="000000"/>
                      </a:solidFill>
                      <a:prstDash val="solid"/>
                      <a:round/>
                      <a:headEnd type="none" w="med" len="med"/>
                      <a:tailEnd type="none" w="med" len="med"/>
                    </a:lnB>
                    <a:solidFill>
                      <a:srgbClr val="FFFFFF"/>
                    </a:solidFill>
                  </a:tcPr>
                </a:tc>
                <a:tc>
                  <a:txBody>
                    <a:bodyPr/>
                    <a:lstStyle/>
                    <a:p>
                      <a:pPr algn="l">
                        <a:buNone/>
                      </a:pPr>
                      <a:r>
                        <a:rPr lang="en-US" sz="1600" dirty="0">
                          <a:effectLst/>
                        </a:rPr>
                        <a:t>Best for structured data only</a:t>
                      </a:r>
                    </a:p>
                  </a:txBody>
                  <a:tcPr marL="79115" marR="79115" marT="39558" marB="39558" anchor="ctr">
                    <a:lnL w="7620" cap="flat" cmpd="sng" algn="ctr">
                      <a:solidFill>
                        <a:srgbClr val="000000"/>
                      </a:solidFill>
                      <a:prstDash val="solid"/>
                      <a:round/>
                      <a:headEnd type="none" w="med" len="med"/>
                      <a:tailEnd type="none" w="med" len="med"/>
                    </a:lnL>
                    <a:lnR w="7620" cap="flat" cmpd="sng" algn="ctr">
                      <a:solidFill>
                        <a:srgbClr val="000000"/>
                      </a:solidFill>
                      <a:prstDash val="solid"/>
                      <a:round/>
                      <a:headEnd type="none" w="med" len="med"/>
                      <a:tailEnd type="none" w="med" len="med"/>
                    </a:lnR>
                    <a:lnT w="7620" cap="flat" cmpd="sng" algn="ctr">
                      <a:solidFill>
                        <a:srgbClr val="000000"/>
                      </a:solidFill>
                      <a:prstDash val="solid"/>
                      <a:round/>
                      <a:headEnd type="none" w="med" len="med"/>
                      <a:tailEnd type="none" w="med" len="med"/>
                    </a:lnT>
                    <a:lnB w="7620" cap="flat" cmpd="sng" algn="ctr">
                      <a:solidFill>
                        <a:srgbClr val="000000"/>
                      </a:solidFill>
                      <a:prstDash val="solid"/>
                      <a:round/>
                      <a:headEnd type="none" w="med" len="med"/>
                      <a:tailEnd type="none" w="med" len="med"/>
                    </a:lnB>
                    <a:solidFill>
                      <a:srgbClr val="FFFFFF"/>
                    </a:solidFill>
                  </a:tcPr>
                </a:tc>
                <a:tc>
                  <a:txBody>
                    <a:bodyPr/>
                    <a:lstStyle/>
                    <a:p>
                      <a:pPr algn="l">
                        <a:buNone/>
                      </a:pPr>
                      <a:r>
                        <a:rPr lang="en-IN" sz="1600" dirty="0">
                          <a:effectLst/>
                        </a:rPr>
                        <a:t>Supports structured &amp; semi-structured data</a:t>
                      </a:r>
                    </a:p>
                  </a:txBody>
                  <a:tcPr marL="79115" marR="79115" marT="39558" marB="39558" anchor="ctr">
                    <a:lnL w="7620" cap="flat" cmpd="sng" algn="ctr">
                      <a:solidFill>
                        <a:srgbClr val="000000"/>
                      </a:solidFill>
                      <a:prstDash val="solid"/>
                      <a:round/>
                      <a:headEnd type="none" w="med" len="med"/>
                      <a:tailEnd type="none" w="med" len="med"/>
                    </a:lnL>
                    <a:lnR w="7620" cap="flat" cmpd="sng" algn="ctr">
                      <a:solidFill>
                        <a:srgbClr val="000000"/>
                      </a:solidFill>
                      <a:prstDash val="solid"/>
                      <a:round/>
                      <a:headEnd type="none" w="med" len="med"/>
                      <a:tailEnd type="none" w="med" len="med"/>
                    </a:lnR>
                    <a:lnT w="7620" cap="flat" cmpd="sng" algn="ctr">
                      <a:solidFill>
                        <a:srgbClr val="000000"/>
                      </a:solidFill>
                      <a:prstDash val="solid"/>
                      <a:round/>
                      <a:headEnd type="none" w="med" len="med"/>
                      <a:tailEnd type="none" w="med" len="med"/>
                    </a:lnT>
                    <a:lnB w="762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3494613478"/>
                  </a:ext>
                </a:extLst>
              </a:tr>
              <a:tr h="435811">
                <a:tc>
                  <a:txBody>
                    <a:bodyPr/>
                    <a:lstStyle/>
                    <a:p>
                      <a:pPr algn="l">
                        <a:buNone/>
                      </a:pPr>
                      <a:r>
                        <a:rPr lang="en-IN" sz="1600">
                          <a:effectLst/>
                        </a:rPr>
                        <a:t>Maintenance</a:t>
                      </a:r>
                    </a:p>
                  </a:txBody>
                  <a:tcPr marL="79115" marR="79115" marT="39558" marB="39558" anchor="ctr">
                    <a:lnL w="7620" cap="flat" cmpd="sng" algn="ctr">
                      <a:solidFill>
                        <a:srgbClr val="000000"/>
                      </a:solidFill>
                      <a:prstDash val="solid"/>
                      <a:round/>
                      <a:headEnd type="none" w="med" len="med"/>
                      <a:tailEnd type="none" w="med" len="med"/>
                    </a:lnL>
                    <a:lnR w="7620" cap="flat" cmpd="sng" algn="ctr">
                      <a:solidFill>
                        <a:srgbClr val="000000"/>
                      </a:solidFill>
                      <a:prstDash val="solid"/>
                      <a:round/>
                      <a:headEnd type="none" w="med" len="med"/>
                      <a:tailEnd type="none" w="med" len="med"/>
                    </a:lnR>
                    <a:lnT w="7620" cap="flat" cmpd="sng" algn="ctr">
                      <a:solidFill>
                        <a:srgbClr val="000000"/>
                      </a:solidFill>
                      <a:prstDash val="solid"/>
                      <a:round/>
                      <a:headEnd type="none" w="med" len="med"/>
                      <a:tailEnd type="none" w="med" len="med"/>
                    </a:lnT>
                    <a:lnB w="7620" cap="flat" cmpd="sng" algn="ctr">
                      <a:solidFill>
                        <a:srgbClr val="000000"/>
                      </a:solidFill>
                      <a:prstDash val="solid"/>
                      <a:round/>
                      <a:headEnd type="none" w="med" len="med"/>
                      <a:tailEnd type="none" w="med" len="med"/>
                    </a:lnB>
                    <a:solidFill>
                      <a:srgbClr val="FFFFFF"/>
                    </a:solidFill>
                  </a:tcPr>
                </a:tc>
                <a:tc>
                  <a:txBody>
                    <a:bodyPr/>
                    <a:lstStyle/>
                    <a:p>
                      <a:pPr algn="l">
                        <a:buNone/>
                      </a:pPr>
                      <a:r>
                        <a:rPr lang="en-IN" sz="1600">
                          <a:effectLst/>
                        </a:rPr>
                        <a:t>High IT involvement</a:t>
                      </a:r>
                    </a:p>
                  </a:txBody>
                  <a:tcPr marL="79115" marR="79115" marT="39558" marB="39558" anchor="ctr">
                    <a:lnL w="7620" cap="flat" cmpd="sng" algn="ctr">
                      <a:solidFill>
                        <a:srgbClr val="000000"/>
                      </a:solidFill>
                      <a:prstDash val="solid"/>
                      <a:round/>
                      <a:headEnd type="none" w="med" len="med"/>
                      <a:tailEnd type="none" w="med" len="med"/>
                    </a:lnL>
                    <a:lnR w="7620" cap="flat" cmpd="sng" algn="ctr">
                      <a:solidFill>
                        <a:srgbClr val="000000"/>
                      </a:solidFill>
                      <a:prstDash val="solid"/>
                      <a:round/>
                      <a:headEnd type="none" w="med" len="med"/>
                      <a:tailEnd type="none" w="med" len="med"/>
                    </a:lnR>
                    <a:lnT w="7620" cap="flat" cmpd="sng" algn="ctr">
                      <a:solidFill>
                        <a:srgbClr val="000000"/>
                      </a:solidFill>
                      <a:prstDash val="solid"/>
                      <a:round/>
                      <a:headEnd type="none" w="med" len="med"/>
                      <a:tailEnd type="none" w="med" len="med"/>
                    </a:lnT>
                    <a:lnB w="7620" cap="flat" cmpd="sng" algn="ctr">
                      <a:solidFill>
                        <a:srgbClr val="000000"/>
                      </a:solidFill>
                      <a:prstDash val="solid"/>
                      <a:round/>
                      <a:headEnd type="none" w="med" len="med"/>
                      <a:tailEnd type="none" w="med" len="med"/>
                    </a:lnB>
                    <a:solidFill>
                      <a:srgbClr val="FFFFFF"/>
                    </a:solidFill>
                  </a:tcPr>
                </a:tc>
                <a:tc>
                  <a:txBody>
                    <a:bodyPr/>
                    <a:lstStyle/>
                    <a:p>
                      <a:pPr algn="l">
                        <a:buNone/>
                      </a:pPr>
                      <a:r>
                        <a:rPr lang="en-IN" sz="1600" dirty="0">
                          <a:effectLst/>
                        </a:rPr>
                        <a:t>Fully managed SaaS</a:t>
                      </a:r>
                    </a:p>
                  </a:txBody>
                  <a:tcPr marL="79115" marR="79115" marT="39558" marB="39558" anchor="ctr">
                    <a:lnL w="7620" cap="flat" cmpd="sng" algn="ctr">
                      <a:solidFill>
                        <a:srgbClr val="000000"/>
                      </a:solidFill>
                      <a:prstDash val="solid"/>
                      <a:round/>
                      <a:headEnd type="none" w="med" len="med"/>
                      <a:tailEnd type="none" w="med" len="med"/>
                    </a:lnL>
                    <a:lnR w="7620" cap="flat" cmpd="sng" algn="ctr">
                      <a:solidFill>
                        <a:srgbClr val="000000"/>
                      </a:solidFill>
                      <a:prstDash val="solid"/>
                      <a:round/>
                      <a:headEnd type="none" w="med" len="med"/>
                      <a:tailEnd type="none" w="med" len="med"/>
                    </a:lnR>
                    <a:lnT w="7620" cap="flat" cmpd="sng" algn="ctr">
                      <a:solidFill>
                        <a:srgbClr val="000000"/>
                      </a:solidFill>
                      <a:prstDash val="solid"/>
                      <a:round/>
                      <a:headEnd type="none" w="med" len="med"/>
                      <a:tailEnd type="none" w="med" len="med"/>
                    </a:lnT>
                    <a:lnB w="762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3869347843"/>
                  </a:ext>
                </a:extLst>
              </a:tr>
              <a:tr h="974565">
                <a:tc>
                  <a:txBody>
                    <a:bodyPr/>
                    <a:lstStyle/>
                    <a:p>
                      <a:pPr algn="l">
                        <a:buNone/>
                      </a:pPr>
                      <a:r>
                        <a:rPr lang="en-IN" sz="1600" dirty="0">
                          <a:effectLst/>
                        </a:rPr>
                        <a:t>Security &amp; Compliance</a:t>
                      </a:r>
                    </a:p>
                  </a:txBody>
                  <a:tcPr marL="79115" marR="79115" marT="39558" marB="39558" anchor="ctr">
                    <a:lnL w="7620" cap="flat" cmpd="sng" algn="ctr">
                      <a:solidFill>
                        <a:srgbClr val="000000"/>
                      </a:solidFill>
                      <a:prstDash val="solid"/>
                      <a:round/>
                      <a:headEnd type="none" w="med" len="med"/>
                      <a:tailEnd type="none" w="med" len="med"/>
                    </a:lnL>
                    <a:lnR w="7620" cap="flat" cmpd="sng" algn="ctr">
                      <a:solidFill>
                        <a:srgbClr val="000000"/>
                      </a:solidFill>
                      <a:prstDash val="solid"/>
                      <a:round/>
                      <a:headEnd type="none" w="med" len="med"/>
                      <a:tailEnd type="none" w="med" len="med"/>
                    </a:lnR>
                    <a:lnT w="7620" cap="flat" cmpd="sng" algn="ctr">
                      <a:solidFill>
                        <a:srgbClr val="000000"/>
                      </a:solidFill>
                      <a:prstDash val="solid"/>
                      <a:round/>
                      <a:headEnd type="none" w="med" len="med"/>
                      <a:tailEnd type="none" w="med" len="med"/>
                    </a:lnT>
                    <a:lnB w="7620" cap="flat" cmpd="sng" algn="ctr">
                      <a:solidFill>
                        <a:srgbClr val="000000"/>
                      </a:solidFill>
                      <a:prstDash val="solid"/>
                      <a:round/>
                      <a:headEnd type="none" w="med" len="med"/>
                      <a:tailEnd type="none" w="med" len="med"/>
                    </a:lnB>
                    <a:solidFill>
                      <a:srgbClr val="FFFFFF"/>
                    </a:solidFill>
                  </a:tcPr>
                </a:tc>
                <a:tc>
                  <a:txBody>
                    <a:bodyPr/>
                    <a:lstStyle/>
                    <a:p>
                      <a:pPr algn="l">
                        <a:buNone/>
                      </a:pPr>
                      <a:r>
                        <a:rPr lang="en-IN" sz="1600" dirty="0">
                          <a:effectLst/>
                        </a:rPr>
                        <a:t>Requires in-house setup</a:t>
                      </a:r>
                    </a:p>
                  </a:txBody>
                  <a:tcPr marL="79115" marR="79115" marT="39558" marB="39558" anchor="ctr">
                    <a:lnL w="7620" cap="flat" cmpd="sng" algn="ctr">
                      <a:solidFill>
                        <a:srgbClr val="000000"/>
                      </a:solidFill>
                      <a:prstDash val="solid"/>
                      <a:round/>
                      <a:headEnd type="none" w="med" len="med"/>
                      <a:tailEnd type="none" w="med" len="med"/>
                    </a:lnL>
                    <a:lnR w="7620" cap="flat" cmpd="sng" algn="ctr">
                      <a:solidFill>
                        <a:srgbClr val="000000"/>
                      </a:solidFill>
                      <a:prstDash val="solid"/>
                      <a:round/>
                      <a:headEnd type="none" w="med" len="med"/>
                      <a:tailEnd type="none" w="med" len="med"/>
                    </a:lnR>
                    <a:lnT w="7620" cap="flat" cmpd="sng" algn="ctr">
                      <a:solidFill>
                        <a:srgbClr val="000000"/>
                      </a:solidFill>
                      <a:prstDash val="solid"/>
                      <a:round/>
                      <a:headEnd type="none" w="med" len="med"/>
                      <a:tailEnd type="none" w="med" len="med"/>
                    </a:lnT>
                    <a:lnB w="7620" cap="flat" cmpd="sng" algn="ctr">
                      <a:solidFill>
                        <a:srgbClr val="000000"/>
                      </a:solidFill>
                      <a:prstDash val="solid"/>
                      <a:round/>
                      <a:headEnd type="none" w="med" len="med"/>
                      <a:tailEnd type="none" w="med" len="med"/>
                    </a:lnB>
                    <a:solidFill>
                      <a:srgbClr val="FFFFFF"/>
                    </a:solidFill>
                  </a:tcPr>
                </a:tc>
                <a:tc>
                  <a:txBody>
                    <a:bodyPr/>
                    <a:lstStyle/>
                    <a:p>
                      <a:pPr algn="l">
                        <a:buNone/>
                      </a:pPr>
                      <a:r>
                        <a:rPr lang="en-IN" sz="1600" dirty="0">
                          <a:effectLst/>
                        </a:rPr>
                        <a:t>Built-in enterprise-grade security</a:t>
                      </a:r>
                    </a:p>
                  </a:txBody>
                  <a:tcPr marL="79115" marR="79115" marT="39558" marB="39558" anchor="ctr">
                    <a:lnL w="7620" cap="flat" cmpd="sng" algn="ctr">
                      <a:solidFill>
                        <a:srgbClr val="000000"/>
                      </a:solidFill>
                      <a:prstDash val="solid"/>
                      <a:round/>
                      <a:headEnd type="none" w="med" len="med"/>
                      <a:tailEnd type="none" w="med" len="med"/>
                    </a:lnL>
                    <a:lnR w="7620" cap="flat" cmpd="sng" algn="ctr">
                      <a:solidFill>
                        <a:srgbClr val="000000"/>
                      </a:solidFill>
                      <a:prstDash val="solid"/>
                      <a:round/>
                      <a:headEnd type="none" w="med" len="med"/>
                      <a:tailEnd type="none" w="med" len="med"/>
                    </a:lnR>
                    <a:lnT w="7620" cap="flat" cmpd="sng" algn="ctr">
                      <a:solidFill>
                        <a:srgbClr val="000000"/>
                      </a:solidFill>
                      <a:prstDash val="solid"/>
                      <a:round/>
                      <a:headEnd type="none" w="med" len="med"/>
                      <a:tailEnd type="none" w="med" len="med"/>
                    </a:lnT>
                    <a:lnB w="762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238947655"/>
                  </a:ext>
                </a:extLst>
              </a:tr>
            </a:tbl>
          </a:graphicData>
        </a:graphic>
      </p:graphicFrame>
    </p:spTree>
    <p:extLst>
      <p:ext uri="{BB962C8B-B14F-4D97-AF65-F5344CB8AC3E}">
        <p14:creationId xmlns:p14="http://schemas.microsoft.com/office/powerpoint/2010/main" val="250230754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2CF384-FCDF-72FB-F482-FA5587F41DCE}"/>
              </a:ext>
            </a:extLst>
          </p:cNvPr>
          <p:cNvSpPr>
            <a:spLocks noGrp="1"/>
          </p:cNvSpPr>
          <p:nvPr>
            <p:ph type="title"/>
          </p:nvPr>
        </p:nvSpPr>
        <p:spPr>
          <a:xfrm>
            <a:off x="838200" y="365125"/>
            <a:ext cx="10468897" cy="480449"/>
          </a:xfrm>
        </p:spPr>
        <p:txBody>
          <a:bodyPr>
            <a:normAutofit fontScale="90000"/>
          </a:bodyPr>
          <a:lstStyle/>
          <a:p>
            <a:endParaRPr lang="en-IN" dirty="0"/>
          </a:p>
        </p:txBody>
      </p:sp>
      <p:graphicFrame>
        <p:nvGraphicFramePr>
          <p:cNvPr id="3" name="Table 2">
            <a:extLst>
              <a:ext uri="{FF2B5EF4-FFF2-40B4-BE49-F238E27FC236}">
                <a16:creationId xmlns:a16="http://schemas.microsoft.com/office/drawing/2014/main" id="{F84F741D-9418-1903-F5A1-E826DCE74B87}"/>
              </a:ext>
            </a:extLst>
          </p:cNvPr>
          <p:cNvGraphicFramePr>
            <a:graphicFrameLocks noGrp="1"/>
          </p:cNvGraphicFramePr>
          <p:nvPr>
            <p:extLst>
              <p:ext uri="{D42A27DB-BD31-4B8C-83A1-F6EECF244321}">
                <p14:modId xmlns:p14="http://schemas.microsoft.com/office/powerpoint/2010/main" val="2365674669"/>
              </p:ext>
            </p:extLst>
          </p:nvPr>
        </p:nvGraphicFramePr>
        <p:xfrm>
          <a:off x="1042219" y="1052052"/>
          <a:ext cx="9960078" cy="4945624"/>
        </p:xfrm>
        <a:graphic>
          <a:graphicData uri="http://schemas.openxmlformats.org/drawingml/2006/table">
            <a:tbl>
              <a:tblPr/>
              <a:tblGrid>
                <a:gridCol w="3320026">
                  <a:extLst>
                    <a:ext uri="{9D8B030D-6E8A-4147-A177-3AD203B41FA5}">
                      <a16:colId xmlns:a16="http://schemas.microsoft.com/office/drawing/2014/main" val="2737235650"/>
                    </a:ext>
                  </a:extLst>
                </a:gridCol>
                <a:gridCol w="3320026">
                  <a:extLst>
                    <a:ext uri="{9D8B030D-6E8A-4147-A177-3AD203B41FA5}">
                      <a16:colId xmlns:a16="http://schemas.microsoft.com/office/drawing/2014/main" val="748691951"/>
                    </a:ext>
                  </a:extLst>
                </a:gridCol>
                <a:gridCol w="3320026">
                  <a:extLst>
                    <a:ext uri="{9D8B030D-6E8A-4147-A177-3AD203B41FA5}">
                      <a16:colId xmlns:a16="http://schemas.microsoft.com/office/drawing/2014/main" val="1780702914"/>
                    </a:ext>
                  </a:extLst>
                </a:gridCol>
              </a:tblGrid>
              <a:tr h="1108730">
                <a:tc>
                  <a:txBody>
                    <a:bodyPr/>
                    <a:lstStyle/>
                    <a:p>
                      <a:pPr algn="l">
                        <a:buNone/>
                      </a:pPr>
                      <a:r>
                        <a:rPr lang="en-IN" sz="1200">
                          <a:solidFill>
                            <a:srgbClr val="FFFFFF"/>
                          </a:solidFill>
                          <a:effectLst/>
                        </a:rPr>
                        <a:t>Feature</a:t>
                      </a:r>
                    </a:p>
                  </a:txBody>
                  <a:tcPr marL="63063" marR="63063" marT="31531" marB="31531" anchor="ctr">
                    <a:lnL w="7620" cap="flat" cmpd="sng" algn="ctr">
                      <a:solidFill>
                        <a:srgbClr val="FFFFFF"/>
                      </a:solidFill>
                      <a:prstDash val="solid"/>
                      <a:round/>
                      <a:headEnd type="none" w="med" len="med"/>
                      <a:tailEnd type="none" w="med" len="med"/>
                    </a:lnL>
                    <a:lnR w="7620" cap="flat" cmpd="sng" algn="ctr">
                      <a:solidFill>
                        <a:srgbClr val="FFFFFF"/>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000000"/>
                      </a:solidFill>
                      <a:prstDash val="solid"/>
                      <a:round/>
                      <a:headEnd type="none" w="med" len="med"/>
                      <a:tailEnd type="none" w="med" len="med"/>
                    </a:lnB>
                    <a:solidFill>
                      <a:srgbClr val="000000"/>
                    </a:solidFill>
                  </a:tcPr>
                </a:tc>
                <a:tc>
                  <a:txBody>
                    <a:bodyPr/>
                    <a:lstStyle/>
                    <a:p>
                      <a:pPr algn="l">
                        <a:buNone/>
                      </a:pPr>
                      <a:r>
                        <a:rPr lang="en-IN" sz="1200">
                          <a:solidFill>
                            <a:srgbClr val="FFFFFF"/>
                          </a:solidFill>
                          <a:effectLst/>
                        </a:rPr>
                        <a:t>Traditional Data Warehouses</a:t>
                      </a:r>
                    </a:p>
                  </a:txBody>
                  <a:tcPr marL="63063" marR="63063" marT="31531" marB="31531" anchor="ctr">
                    <a:lnL w="7620" cap="flat" cmpd="sng" algn="ctr">
                      <a:solidFill>
                        <a:srgbClr val="FFFFFF"/>
                      </a:solidFill>
                      <a:prstDash val="solid"/>
                      <a:round/>
                      <a:headEnd type="none" w="med" len="med"/>
                      <a:tailEnd type="none" w="med" len="med"/>
                    </a:lnL>
                    <a:lnR w="7620" cap="flat" cmpd="sng" algn="ctr">
                      <a:solidFill>
                        <a:srgbClr val="FFFFFF"/>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000000"/>
                      </a:solidFill>
                      <a:prstDash val="solid"/>
                      <a:round/>
                      <a:headEnd type="none" w="med" len="med"/>
                      <a:tailEnd type="none" w="med" len="med"/>
                    </a:lnB>
                    <a:solidFill>
                      <a:srgbClr val="000000"/>
                    </a:solidFill>
                  </a:tcPr>
                </a:tc>
                <a:tc>
                  <a:txBody>
                    <a:bodyPr/>
                    <a:lstStyle/>
                    <a:p>
                      <a:pPr algn="l">
                        <a:buNone/>
                      </a:pPr>
                      <a:r>
                        <a:rPr lang="en-IN" sz="1200">
                          <a:solidFill>
                            <a:srgbClr val="FFFFFF"/>
                          </a:solidFill>
                          <a:effectLst/>
                        </a:rPr>
                        <a:t>Snowflake</a:t>
                      </a:r>
                    </a:p>
                  </a:txBody>
                  <a:tcPr marL="63063" marR="63063" marT="31531" marB="31531" anchor="ctr">
                    <a:lnL w="7620" cap="flat" cmpd="sng" algn="ctr">
                      <a:solidFill>
                        <a:srgbClr val="FFFFFF"/>
                      </a:solidFill>
                      <a:prstDash val="solid"/>
                      <a:round/>
                      <a:headEnd type="none" w="med" len="med"/>
                      <a:tailEnd type="none" w="med" len="med"/>
                    </a:lnL>
                    <a:lnR w="7620" cap="flat" cmpd="sng" algn="ctr">
                      <a:solidFill>
                        <a:srgbClr val="FFFFFF"/>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000000"/>
                      </a:solidFill>
                      <a:prstDash val="solid"/>
                      <a:round/>
                      <a:headEnd type="none" w="med" len="med"/>
                      <a:tailEnd type="none" w="med" len="med"/>
                    </a:lnB>
                    <a:solidFill>
                      <a:srgbClr val="000000"/>
                    </a:solidFill>
                  </a:tcPr>
                </a:tc>
                <a:extLst>
                  <a:ext uri="{0D108BD9-81ED-4DB2-BD59-A6C34878D82A}">
                    <a16:rowId xmlns:a16="http://schemas.microsoft.com/office/drawing/2014/main" val="4137571545"/>
                  </a:ext>
                </a:extLst>
              </a:tr>
              <a:tr h="804510">
                <a:tc>
                  <a:txBody>
                    <a:bodyPr/>
                    <a:lstStyle/>
                    <a:p>
                      <a:pPr algn="l">
                        <a:buNone/>
                      </a:pPr>
                      <a:r>
                        <a:rPr lang="en-IN" sz="1200" dirty="0">
                          <a:effectLst/>
                        </a:rPr>
                        <a:t>Query Performance</a:t>
                      </a:r>
                    </a:p>
                  </a:txBody>
                  <a:tcPr marL="63063" marR="63063" marT="31531" marB="31531" anchor="ctr">
                    <a:lnL w="7620" cap="flat" cmpd="sng" algn="ctr">
                      <a:solidFill>
                        <a:srgbClr val="000000"/>
                      </a:solidFill>
                      <a:prstDash val="solid"/>
                      <a:round/>
                      <a:headEnd type="none" w="med" len="med"/>
                      <a:tailEnd type="none" w="med" len="med"/>
                    </a:lnL>
                    <a:lnR w="7620" cap="flat" cmpd="sng" algn="ctr">
                      <a:solidFill>
                        <a:srgbClr val="000000"/>
                      </a:solidFill>
                      <a:prstDash val="solid"/>
                      <a:round/>
                      <a:headEnd type="none" w="med" len="med"/>
                      <a:tailEnd type="none" w="med" len="med"/>
                    </a:lnR>
                    <a:lnT w="7620" cap="flat" cmpd="sng" algn="ctr">
                      <a:solidFill>
                        <a:srgbClr val="000000"/>
                      </a:solidFill>
                      <a:prstDash val="solid"/>
                      <a:round/>
                      <a:headEnd type="none" w="med" len="med"/>
                      <a:tailEnd type="none" w="med" len="med"/>
                    </a:lnT>
                    <a:lnB w="7620" cap="flat" cmpd="sng" algn="ctr">
                      <a:solidFill>
                        <a:srgbClr val="000000"/>
                      </a:solidFill>
                      <a:prstDash val="solid"/>
                      <a:round/>
                      <a:headEnd type="none" w="med" len="med"/>
                      <a:tailEnd type="none" w="med" len="med"/>
                    </a:lnB>
                    <a:solidFill>
                      <a:srgbClr val="FFFFFF"/>
                    </a:solidFill>
                  </a:tcPr>
                </a:tc>
                <a:tc>
                  <a:txBody>
                    <a:bodyPr/>
                    <a:lstStyle/>
                    <a:p>
                      <a:pPr algn="l">
                        <a:buNone/>
                      </a:pPr>
                      <a:r>
                        <a:rPr lang="en-US" sz="1200">
                          <a:effectLst/>
                        </a:rPr>
                        <a:t>Can slow down under high loads</a:t>
                      </a:r>
                    </a:p>
                  </a:txBody>
                  <a:tcPr marL="63063" marR="63063" marT="31531" marB="31531" anchor="ctr">
                    <a:lnL w="7620" cap="flat" cmpd="sng" algn="ctr">
                      <a:solidFill>
                        <a:srgbClr val="000000"/>
                      </a:solidFill>
                      <a:prstDash val="solid"/>
                      <a:round/>
                      <a:headEnd type="none" w="med" len="med"/>
                      <a:tailEnd type="none" w="med" len="med"/>
                    </a:lnL>
                    <a:lnR w="7620" cap="flat" cmpd="sng" algn="ctr">
                      <a:solidFill>
                        <a:srgbClr val="000000"/>
                      </a:solidFill>
                      <a:prstDash val="solid"/>
                      <a:round/>
                      <a:headEnd type="none" w="med" len="med"/>
                      <a:tailEnd type="none" w="med" len="med"/>
                    </a:lnR>
                    <a:lnT w="7620" cap="flat" cmpd="sng" algn="ctr">
                      <a:solidFill>
                        <a:srgbClr val="000000"/>
                      </a:solidFill>
                      <a:prstDash val="solid"/>
                      <a:round/>
                      <a:headEnd type="none" w="med" len="med"/>
                      <a:tailEnd type="none" w="med" len="med"/>
                    </a:lnT>
                    <a:lnB w="7620" cap="flat" cmpd="sng" algn="ctr">
                      <a:solidFill>
                        <a:srgbClr val="000000"/>
                      </a:solidFill>
                      <a:prstDash val="solid"/>
                      <a:round/>
                      <a:headEnd type="none" w="med" len="med"/>
                      <a:tailEnd type="none" w="med" len="med"/>
                    </a:lnB>
                    <a:solidFill>
                      <a:srgbClr val="FFFFFF"/>
                    </a:solidFill>
                  </a:tcPr>
                </a:tc>
                <a:tc>
                  <a:txBody>
                    <a:bodyPr/>
                    <a:lstStyle/>
                    <a:p>
                      <a:pPr algn="l">
                        <a:buNone/>
                      </a:pPr>
                      <a:r>
                        <a:rPr lang="en-US" sz="1200">
                          <a:effectLst/>
                        </a:rPr>
                        <a:t>Multi-cluster architecture ensures smooth performance</a:t>
                      </a:r>
                    </a:p>
                  </a:txBody>
                  <a:tcPr marL="63063" marR="63063" marT="31531" marB="31531" anchor="ctr">
                    <a:lnL w="7620" cap="flat" cmpd="sng" algn="ctr">
                      <a:solidFill>
                        <a:srgbClr val="000000"/>
                      </a:solidFill>
                      <a:prstDash val="solid"/>
                      <a:round/>
                      <a:headEnd type="none" w="med" len="med"/>
                      <a:tailEnd type="none" w="med" len="med"/>
                    </a:lnL>
                    <a:lnR w="7620" cap="flat" cmpd="sng" algn="ctr">
                      <a:solidFill>
                        <a:srgbClr val="000000"/>
                      </a:solidFill>
                      <a:prstDash val="solid"/>
                      <a:round/>
                      <a:headEnd type="none" w="med" len="med"/>
                      <a:tailEnd type="none" w="med" len="med"/>
                    </a:lnR>
                    <a:lnT w="7620" cap="flat" cmpd="sng" algn="ctr">
                      <a:solidFill>
                        <a:srgbClr val="000000"/>
                      </a:solidFill>
                      <a:prstDash val="solid"/>
                      <a:round/>
                      <a:headEnd type="none" w="med" len="med"/>
                      <a:tailEnd type="none" w="med" len="med"/>
                    </a:lnT>
                    <a:lnB w="762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800347992"/>
                  </a:ext>
                </a:extLst>
              </a:tr>
              <a:tr h="804510">
                <a:tc>
                  <a:txBody>
                    <a:bodyPr/>
                    <a:lstStyle/>
                    <a:p>
                      <a:pPr algn="l">
                        <a:buNone/>
                      </a:pPr>
                      <a:r>
                        <a:rPr lang="en-IN" sz="1200">
                          <a:effectLst/>
                        </a:rPr>
                        <a:t>Scalability</a:t>
                      </a:r>
                    </a:p>
                  </a:txBody>
                  <a:tcPr marL="63063" marR="63063" marT="31531" marB="31531" anchor="ctr">
                    <a:lnL w="7620" cap="flat" cmpd="sng" algn="ctr">
                      <a:solidFill>
                        <a:srgbClr val="000000"/>
                      </a:solidFill>
                      <a:prstDash val="solid"/>
                      <a:round/>
                      <a:headEnd type="none" w="med" len="med"/>
                      <a:tailEnd type="none" w="med" len="med"/>
                    </a:lnL>
                    <a:lnR w="7620" cap="flat" cmpd="sng" algn="ctr">
                      <a:solidFill>
                        <a:srgbClr val="000000"/>
                      </a:solidFill>
                      <a:prstDash val="solid"/>
                      <a:round/>
                      <a:headEnd type="none" w="med" len="med"/>
                      <a:tailEnd type="none" w="med" len="med"/>
                    </a:lnR>
                    <a:lnT w="7620" cap="flat" cmpd="sng" algn="ctr">
                      <a:solidFill>
                        <a:srgbClr val="000000"/>
                      </a:solidFill>
                      <a:prstDash val="solid"/>
                      <a:round/>
                      <a:headEnd type="none" w="med" len="med"/>
                      <a:tailEnd type="none" w="med" len="med"/>
                    </a:lnT>
                    <a:lnB w="7620" cap="flat" cmpd="sng" algn="ctr">
                      <a:solidFill>
                        <a:srgbClr val="000000"/>
                      </a:solidFill>
                      <a:prstDash val="solid"/>
                      <a:round/>
                      <a:headEnd type="none" w="med" len="med"/>
                      <a:tailEnd type="none" w="med" len="med"/>
                    </a:lnB>
                    <a:solidFill>
                      <a:srgbClr val="FFFFFF"/>
                    </a:solidFill>
                  </a:tcPr>
                </a:tc>
                <a:tc>
                  <a:txBody>
                    <a:bodyPr/>
                    <a:lstStyle/>
                    <a:p>
                      <a:pPr algn="l">
                        <a:buNone/>
                      </a:pPr>
                      <a:r>
                        <a:rPr lang="en-IN" sz="1200">
                          <a:effectLst/>
                        </a:rPr>
                        <a:t>Requires costly hardware upgrades</a:t>
                      </a:r>
                    </a:p>
                  </a:txBody>
                  <a:tcPr marL="63063" marR="63063" marT="31531" marB="31531" anchor="ctr">
                    <a:lnL w="7620" cap="flat" cmpd="sng" algn="ctr">
                      <a:solidFill>
                        <a:srgbClr val="000000"/>
                      </a:solidFill>
                      <a:prstDash val="solid"/>
                      <a:round/>
                      <a:headEnd type="none" w="med" len="med"/>
                      <a:tailEnd type="none" w="med" len="med"/>
                    </a:lnL>
                    <a:lnR w="7620" cap="flat" cmpd="sng" algn="ctr">
                      <a:solidFill>
                        <a:srgbClr val="000000"/>
                      </a:solidFill>
                      <a:prstDash val="solid"/>
                      <a:round/>
                      <a:headEnd type="none" w="med" len="med"/>
                      <a:tailEnd type="none" w="med" len="med"/>
                    </a:lnR>
                    <a:lnT w="7620" cap="flat" cmpd="sng" algn="ctr">
                      <a:solidFill>
                        <a:srgbClr val="000000"/>
                      </a:solidFill>
                      <a:prstDash val="solid"/>
                      <a:round/>
                      <a:headEnd type="none" w="med" len="med"/>
                      <a:tailEnd type="none" w="med" len="med"/>
                    </a:lnT>
                    <a:lnB w="7620" cap="flat" cmpd="sng" algn="ctr">
                      <a:solidFill>
                        <a:srgbClr val="000000"/>
                      </a:solidFill>
                      <a:prstDash val="solid"/>
                      <a:round/>
                      <a:headEnd type="none" w="med" len="med"/>
                      <a:tailEnd type="none" w="med" len="med"/>
                    </a:lnB>
                    <a:solidFill>
                      <a:srgbClr val="FFFFFF"/>
                    </a:solidFill>
                  </a:tcPr>
                </a:tc>
                <a:tc>
                  <a:txBody>
                    <a:bodyPr/>
                    <a:lstStyle/>
                    <a:p>
                      <a:pPr algn="l">
                        <a:buNone/>
                      </a:pPr>
                      <a:r>
                        <a:rPr lang="en-IN" sz="1200">
                          <a:effectLst/>
                        </a:rPr>
                        <a:t>Auto-scales compute &amp; storage independently</a:t>
                      </a:r>
                    </a:p>
                  </a:txBody>
                  <a:tcPr marL="63063" marR="63063" marT="31531" marB="31531" anchor="ctr">
                    <a:lnL w="7620" cap="flat" cmpd="sng" algn="ctr">
                      <a:solidFill>
                        <a:srgbClr val="000000"/>
                      </a:solidFill>
                      <a:prstDash val="solid"/>
                      <a:round/>
                      <a:headEnd type="none" w="med" len="med"/>
                      <a:tailEnd type="none" w="med" len="med"/>
                    </a:lnL>
                    <a:lnR w="7620" cap="flat" cmpd="sng" algn="ctr">
                      <a:solidFill>
                        <a:srgbClr val="000000"/>
                      </a:solidFill>
                      <a:prstDash val="solid"/>
                      <a:round/>
                      <a:headEnd type="none" w="med" len="med"/>
                      <a:tailEnd type="none" w="med" len="med"/>
                    </a:lnR>
                    <a:lnT w="7620" cap="flat" cmpd="sng" algn="ctr">
                      <a:solidFill>
                        <a:srgbClr val="000000"/>
                      </a:solidFill>
                      <a:prstDash val="solid"/>
                      <a:round/>
                      <a:headEnd type="none" w="med" len="med"/>
                      <a:tailEnd type="none" w="med" len="med"/>
                    </a:lnT>
                    <a:lnB w="762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3456923587"/>
                  </a:ext>
                </a:extLst>
              </a:tr>
              <a:tr h="804510">
                <a:tc>
                  <a:txBody>
                    <a:bodyPr/>
                    <a:lstStyle/>
                    <a:p>
                      <a:pPr algn="l">
                        <a:buNone/>
                      </a:pPr>
                      <a:r>
                        <a:rPr lang="en-IN" sz="1200">
                          <a:effectLst/>
                        </a:rPr>
                        <a:t>Concurrency Handling</a:t>
                      </a:r>
                    </a:p>
                  </a:txBody>
                  <a:tcPr marL="63063" marR="63063" marT="31531" marB="31531" anchor="ctr">
                    <a:lnL w="7620" cap="flat" cmpd="sng" algn="ctr">
                      <a:solidFill>
                        <a:srgbClr val="000000"/>
                      </a:solidFill>
                      <a:prstDash val="solid"/>
                      <a:round/>
                      <a:headEnd type="none" w="med" len="med"/>
                      <a:tailEnd type="none" w="med" len="med"/>
                    </a:lnL>
                    <a:lnR w="7620" cap="flat" cmpd="sng" algn="ctr">
                      <a:solidFill>
                        <a:srgbClr val="000000"/>
                      </a:solidFill>
                      <a:prstDash val="solid"/>
                      <a:round/>
                      <a:headEnd type="none" w="med" len="med"/>
                      <a:tailEnd type="none" w="med" len="med"/>
                    </a:lnR>
                    <a:lnT w="7620" cap="flat" cmpd="sng" algn="ctr">
                      <a:solidFill>
                        <a:srgbClr val="000000"/>
                      </a:solidFill>
                      <a:prstDash val="solid"/>
                      <a:round/>
                      <a:headEnd type="none" w="med" len="med"/>
                      <a:tailEnd type="none" w="med" len="med"/>
                    </a:lnT>
                    <a:lnB w="7620" cap="flat" cmpd="sng" algn="ctr">
                      <a:solidFill>
                        <a:srgbClr val="000000"/>
                      </a:solidFill>
                      <a:prstDash val="solid"/>
                      <a:round/>
                      <a:headEnd type="none" w="med" len="med"/>
                      <a:tailEnd type="none" w="med" len="med"/>
                    </a:lnB>
                    <a:solidFill>
                      <a:srgbClr val="FFFFFF"/>
                    </a:solidFill>
                  </a:tcPr>
                </a:tc>
                <a:tc>
                  <a:txBody>
                    <a:bodyPr/>
                    <a:lstStyle/>
                    <a:p>
                      <a:pPr algn="l">
                        <a:buNone/>
                      </a:pPr>
                      <a:r>
                        <a:rPr lang="en-US" sz="1200">
                          <a:effectLst/>
                        </a:rPr>
                        <a:t>Queries compete for resources, slowing performance</a:t>
                      </a:r>
                    </a:p>
                  </a:txBody>
                  <a:tcPr marL="63063" marR="63063" marT="31531" marB="31531" anchor="ctr">
                    <a:lnL w="7620" cap="flat" cmpd="sng" algn="ctr">
                      <a:solidFill>
                        <a:srgbClr val="000000"/>
                      </a:solidFill>
                      <a:prstDash val="solid"/>
                      <a:round/>
                      <a:headEnd type="none" w="med" len="med"/>
                      <a:tailEnd type="none" w="med" len="med"/>
                    </a:lnL>
                    <a:lnR w="7620" cap="flat" cmpd="sng" algn="ctr">
                      <a:solidFill>
                        <a:srgbClr val="000000"/>
                      </a:solidFill>
                      <a:prstDash val="solid"/>
                      <a:round/>
                      <a:headEnd type="none" w="med" len="med"/>
                      <a:tailEnd type="none" w="med" len="med"/>
                    </a:lnR>
                    <a:lnT w="7620" cap="flat" cmpd="sng" algn="ctr">
                      <a:solidFill>
                        <a:srgbClr val="000000"/>
                      </a:solidFill>
                      <a:prstDash val="solid"/>
                      <a:round/>
                      <a:headEnd type="none" w="med" len="med"/>
                      <a:tailEnd type="none" w="med" len="med"/>
                    </a:lnT>
                    <a:lnB w="7620" cap="flat" cmpd="sng" algn="ctr">
                      <a:solidFill>
                        <a:srgbClr val="000000"/>
                      </a:solidFill>
                      <a:prstDash val="solid"/>
                      <a:round/>
                      <a:headEnd type="none" w="med" len="med"/>
                      <a:tailEnd type="none" w="med" len="med"/>
                    </a:lnB>
                    <a:solidFill>
                      <a:srgbClr val="FFFFFF"/>
                    </a:solidFill>
                  </a:tcPr>
                </a:tc>
                <a:tc>
                  <a:txBody>
                    <a:bodyPr/>
                    <a:lstStyle/>
                    <a:p>
                      <a:pPr algn="l">
                        <a:buNone/>
                      </a:pPr>
                      <a:r>
                        <a:rPr lang="en-US" sz="1200">
                          <a:effectLst/>
                        </a:rPr>
                        <a:t>Each query gets dedicated compute resources</a:t>
                      </a:r>
                    </a:p>
                  </a:txBody>
                  <a:tcPr marL="63063" marR="63063" marT="31531" marB="31531" anchor="ctr">
                    <a:lnL w="7620" cap="flat" cmpd="sng" algn="ctr">
                      <a:solidFill>
                        <a:srgbClr val="000000"/>
                      </a:solidFill>
                      <a:prstDash val="solid"/>
                      <a:round/>
                      <a:headEnd type="none" w="med" len="med"/>
                      <a:tailEnd type="none" w="med" len="med"/>
                    </a:lnL>
                    <a:lnR w="7620" cap="flat" cmpd="sng" algn="ctr">
                      <a:solidFill>
                        <a:srgbClr val="000000"/>
                      </a:solidFill>
                      <a:prstDash val="solid"/>
                      <a:round/>
                      <a:headEnd type="none" w="med" len="med"/>
                      <a:tailEnd type="none" w="med" len="med"/>
                    </a:lnR>
                    <a:lnT w="7620" cap="flat" cmpd="sng" algn="ctr">
                      <a:solidFill>
                        <a:srgbClr val="000000"/>
                      </a:solidFill>
                      <a:prstDash val="solid"/>
                      <a:round/>
                      <a:headEnd type="none" w="med" len="med"/>
                      <a:tailEnd type="none" w="med" len="med"/>
                    </a:lnT>
                    <a:lnB w="762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3130860464"/>
                  </a:ext>
                </a:extLst>
              </a:tr>
              <a:tr h="618854">
                <a:tc>
                  <a:txBody>
                    <a:bodyPr/>
                    <a:lstStyle/>
                    <a:p>
                      <a:pPr algn="l">
                        <a:buNone/>
                      </a:pPr>
                      <a:r>
                        <a:rPr lang="en-IN" sz="1200">
                          <a:effectLst/>
                        </a:rPr>
                        <a:t>Cost Efficiency</a:t>
                      </a:r>
                    </a:p>
                  </a:txBody>
                  <a:tcPr marL="63063" marR="63063" marT="31531" marB="31531" anchor="ctr">
                    <a:lnL w="7620" cap="flat" cmpd="sng" algn="ctr">
                      <a:solidFill>
                        <a:srgbClr val="000000"/>
                      </a:solidFill>
                      <a:prstDash val="solid"/>
                      <a:round/>
                      <a:headEnd type="none" w="med" len="med"/>
                      <a:tailEnd type="none" w="med" len="med"/>
                    </a:lnL>
                    <a:lnR w="7620" cap="flat" cmpd="sng" algn="ctr">
                      <a:solidFill>
                        <a:srgbClr val="000000"/>
                      </a:solidFill>
                      <a:prstDash val="solid"/>
                      <a:round/>
                      <a:headEnd type="none" w="med" len="med"/>
                      <a:tailEnd type="none" w="med" len="med"/>
                    </a:lnR>
                    <a:lnT w="7620" cap="flat" cmpd="sng" algn="ctr">
                      <a:solidFill>
                        <a:srgbClr val="000000"/>
                      </a:solidFill>
                      <a:prstDash val="solid"/>
                      <a:round/>
                      <a:headEnd type="none" w="med" len="med"/>
                      <a:tailEnd type="none" w="med" len="med"/>
                    </a:lnT>
                    <a:lnB w="7620" cap="flat" cmpd="sng" algn="ctr">
                      <a:solidFill>
                        <a:srgbClr val="000000"/>
                      </a:solidFill>
                      <a:prstDash val="solid"/>
                      <a:round/>
                      <a:headEnd type="none" w="med" len="med"/>
                      <a:tailEnd type="none" w="med" len="med"/>
                    </a:lnB>
                    <a:solidFill>
                      <a:srgbClr val="FFFFFF"/>
                    </a:solidFill>
                  </a:tcPr>
                </a:tc>
                <a:tc>
                  <a:txBody>
                    <a:bodyPr/>
                    <a:lstStyle/>
                    <a:p>
                      <a:pPr algn="l">
                        <a:buNone/>
                      </a:pPr>
                      <a:r>
                        <a:rPr lang="en-US" sz="1200">
                          <a:effectLst/>
                        </a:rPr>
                        <a:t>Fixed costs, even for unused resources</a:t>
                      </a:r>
                    </a:p>
                  </a:txBody>
                  <a:tcPr marL="63063" marR="63063" marT="31531" marB="31531" anchor="ctr">
                    <a:lnL w="7620" cap="flat" cmpd="sng" algn="ctr">
                      <a:solidFill>
                        <a:srgbClr val="000000"/>
                      </a:solidFill>
                      <a:prstDash val="solid"/>
                      <a:round/>
                      <a:headEnd type="none" w="med" len="med"/>
                      <a:tailEnd type="none" w="med" len="med"/>
                    </a:lnL>
                    <a:lnR w="7620" cap="flat" cmpd="sng" algn="ctr">
                      <a:solidFill>
                        <a:srgbClr val="000000"/>
                      </a:solidFill>
                      <a:prstDash val="solid"/>
                      <a:round/>
                      <a:headEnd type="none" w="med" len="med"/>
                      <a:tailEnd type="none" w="med" len="med"/>
                    </a:lnR>
                    <a:lnT w="7620" cap="flat" cmpd="sng" algn="ctr">
                      <a:solidFill>
                        <a:srgbClr val="000000"/>
                      </a:solidFill>
                      <a:prstDash val="solid"/>
                      <a:round/>
                      <a:headEnd type="none" w="med" len="med"/>
                      <a:tailEnd type="none" w="med" len="med"/>
                    </a:lnT>
                    <a:lnB w="7620" cap="flat" cmpd="sng" algn="ctr">
                      <a:solidFill>
                        <a:srgbClr val="000000"/>
                      </a:solidFill>
                      <a:prstDash val="solid"/>
                      <a:round/>
                      <a:headEnd type="none" w="med" len="med"/>
                      <a:tailEnd type="none" w="med" len="med"/>
                    </a:lnB>
                    <a:solidFill>
                      <a:srgbClr val="FFFFFF"/>
                    </a:solidFill>
                  </a:tcPr>
                </a:tc>
                <a:tc>
                  <a:txBody>
                    <a:bodyPr/>
                    <a:lstStyle/>
                    <a:p>
                      <a:pPr algn="l">
                        <a:buNone/>
                      </a:pPr>
                      <a:r>
                        <a:rPr lang="en-IN" sz="1200">
                          <a:effectLst/>
                        </a:rPr>
                        <a:t>Pay-as-you-go model, reducing waste</a:t>
                      </a:r>
                    </a:p>
                  </a:txBody>
                  <a:tcPr marL="63063" marR="63063" marT="31531" marB="31531" anchor="ctr">
                    <a:lnL w="7620" cap="flat" cmpd="sng" algn="ctr">
                      <a:solidFill>
                        <a:srgbClr val="000000"/>
                      </a:solidFill>
                      <a:prstDash val="solid"/>
                      <a:round/>
                      <a:headEnd type="none" w="med" len="med"/>
                      <a:tailEnd type="none" w="med" len="med"/>
                    </a:lnL>
                    <a:lnR w="7620" cap="flat" cmpd="sng" algn="ctr">
                      <a:solidFill>
                        <a:srgbClr val="000000"/>
                      </a:solidFill>
                      <a:prstDash val="solid"/>
                      <a:round/>
                      <a:headEnd type="none" w="med" len="med"/>
                      <a:tailEnd type="none" w="med" len="med"/>
                    </a:lnR>
                    <a:lnT w="7620" cap="flat" cmpd="sng" algn="ctr">
                      <a:solidFill>
                        <a:srgbClr val="000000"/>
                      </a:solidFill>
                      <a:prstDash val="solid"/>
                      <a:round/>
                      <a:headEnd type="none" w="med" len="med"/>
                      <a:tailEnd type="none" w="med" len="med"/>
                    </a:lnT>
                    <a:lnB w="762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896628446"/>
                  </a:ext>
                </a:extLst>
              </a:tr>
              <a:tr h="804510">
                <a:tc>
                  <a:txBody>
                    <a:bodyPr/>
                    <a:lstStyle/>
                    <a:p>
                      <a:pPr algn="l">
                        <a:buNone/>
                      </a:pPr>
                      <a:r>
                        <a:rPr lang="en-IN" sz="1200">
                          <a:effectLst/>
                        </a:rPr>
                        <a:t>Maintenance</a:t>
                      </a:r>
                    </a:p>
                  </a:txBody>
                  <a:tcPr marL="63063" marR="63063" marT="31531" marB="31531" anchor="ctr">
                    <a:lnL w="7620" cap="flat" cmpd="sng" algn="ctr">
                      <a:solidFill>
                        <a:srgbClr val="000000"/>
                      </a:solidFill>
                      <a:prstDash val="solid"/>
                      <a:round/>
                      <a:headEnd type="none" w="med" len="med"/>
                      <a:tailEnd type="none" w="med" len="med"/>
                    </a:lnL>
                    <a:lnR w="7620" cap="flat" cmpd="sng" algn="ctr">
                      <a:solidFill>
                        <a:srgbClr val="000000"/>
                      </a:solidFill>
                      <a:prstDash val="solid"/>
                      <a:round/>
                      <a:headEnd type="none" w="med" len="med"/>
                      <a:tailEnd type="none" w="med" len="med"/>
                    </a:lnR>
                    <a:lnT w="7620" cap="flat" cmpd="sng" algn="ctr">
                      <a:solidFill>
                        <a:srgbClr val="000000"/>
                      </a:solidFill>
                      <a:prstDash val="solid"/>
                      <a:round/>
                      <a:headEnd type="none" w="med" len="med"/>
                      <a:tailEnd type="none" w="med" len="med"/>
                    </a:lnT>
                    <a:lnB w="7620" cap="flat" cmpd="sng" algn="ctr">
                      <a:solidFill>
                        <a:srgbClr val="000000"/>
                      </a:solidFill>
                      <a:prstDash val="solid"/>
                      <a:round/>
                      <a:headEnd type="none" w="med" len="med"/>
                      <a:tailEnd type="none" w="med" len="med"/>
                    </a:lnB>
                    <a:solidFill>
                      <a:srgbClr val="FFFFFF"/>
                    </a:solidFill>
                  </a:tcPr>
                </a:tc>
                <a:tc>
                  <a:txBody>
                    <a:bodyPr/>
                    <a:lstStyle/>
                    <a:p>
                      <a:pPr algn="l">
                        <a:buNone/>
                      </a:pPr>
                      <a:r>
                        <a:rPr lang="en-US" sz="1200" dirty="0">
                          <a:effectLst/>
                        </a:rPr>
                        <a:t>Requires IT teams for monitoring &amp; tuning</a:t>
                      </a:r>
                    </a:p>
                  </a:txBody>
                  <a:tcPr marL="63063" marR="63063" marT="31531" marB="31531" anchor="ctr">
                    <a:lnL w="7620" cap="flat" cmpd="sng" algn="ctr">
                      <a:solidFill>
                        <a:srgbClr val="000000"/>
                      </a:solidFill>
                      <a:prstDash val="solid"/>
                      <a:round/>
                      <a:headEnd type="none" w="med" len="med"/>
                      <a:tailEnd type="none" w="med" len="med"/>
                    </a:lnL>
                    <a:lnR w="7620" cap="flat" cmpd="sng" algn="ctr">
                      <a:solidFill>
                        <a:srgbClr val="000000"/>
                      </a:solidFill>
                      <a:prstDash val="solid"/>
                      <a:round/>
                      <a:headEnd type="none" w="med" len="med"/>
                      <a:tailEnd type="none" w="med" len="med"/>
                    </a:lnR>
                    <a:lnT w="7620" cap="flat" cmpd="sng" algn="ctr">
                      <a:solidFill>
                        <a:srgbClr val="000000"/>
                      </a:solidFill>
                      <a:prstDash val="solid"/>
                      <a:round/>
                      <a:headEnd type="none" w="med" len="med"/>
                      <a:tailEnd type="none" w="med" len="med"/>
                    </a:lnT>
                    <a:lnB w="7620" cap="flat" cmpd="sng" algn="ctr">
                      <a:solidFill>
                        <a:srgbClr val="000000"/>
                      </a:solidFill>
                      <a:prstDash val="solid"/>
                      <a:round/>
                      <a:headEnd type="none" w="med" len="med"/>
                      <a:tailEnd type="none" w="med" len="med"/>
                    </a:lnB>
                    <a:solidFill>
                      <a:srgbClr val="FFFFFF"/>
                    </a:solidFill>
                  </a:tcPr>
                </a:tc>
                <a:tc>
                  <a:txBody>
                    <a:bodyPr/>
                    <a:lstStyle/>
                    <a:p>
                      <a:pPr algn="l">
                        <a:buNone/>
                      </a:pPr>
                      <a:r>
                        <a:rPr lang="en-US" sz="1200" dirty="0">
                          <a:effectLst/>
                        </a:rPr>
                        <a:t>Fully managed SaaS, no manual intervention needed</a:t>
                      </a:r>
                    </a:p>
                  </a:txBody>
                  <a:tcPr marL="63063" marR="63063" marT="31531" marB="31531" anchor="ctr">
                    <a:lnL w="7620" cap="flat" cmpd="sng" algn="ctr">
                      <a:solidFill>
                        <a:srgbClr val="000000"/>
                      </a:solidFill>
                      <a:prstDash val="solid"/>
                      <a:round/>
                      <a:headEnd type="none" w="med" len="med"/>
                      <a:tailEnd type="none" w="med" len="med"/>
                    </a:lnL>
                    <a:lnR w="7620" cap="flat" cmpd="sng" algn="ctr">
                      <a:solidFill>
                        <a:srgbClr val="000000"/>
                      </a:solidFill>
                      <a:prstDash val="solid"/>
                      <a:round/>
                      <a:headEnd type="none" w="med" len="med"/>
                      <a:tailEnd type="none" w="med" len="med"/>
                    </a:lnR>
                    <a:lnT w="7620" cap="flat" cmpd="sng" algn="ctr">
                      <a:solidFill>
                        <a:srgbClr val="000000"/>
                      </a:solidFill>
                      <a:prstDash val="solid"/>
                      <a:round/>
                      <a:headEnd type="none" w="med" len="med"/>
                      <a:tailEnd type="none" w="med" len="med"/>
                    </a:lnT>
                    <a:lnB w="762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3508603066"/>
                  </a:ext>
                </a:extLst>
              </a:tr>
            </a:tbl>
          </a:graphicData>
        </a:graphic>
      </p:graphicFrame>
    </p:spTree>
    <p:extLst>
      <p:ext uri="{BB962C8B-B14F-4D97-AF65-F5344CB8AC3E}">
        <p14:creationId xmlns:p14="http://schemas.microsoft.com/office/powerpoint/2010/main" val="302260033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99AD18-D148-B0D6-9F13-CCA07ED0CFD3}"/>
              </a:ext>
            </a:extLst>
          </p:cNvPr>
          <p:cNvSpPr>
            <a:spLocks noGrp="1"/>
          </p:cNvSpPr>
          <p:nvPr>
            <p:ph type="title"/>
          </p:nvPr>
        </p:nvSpPr>
        <p:spPr>
          <a:xfrm>
            <a:off x="838200" y="365125"/>
            <a:ext cx="10515600" cy="627933"/>
          </a:xfrm>
        </p:spPr>
        <p:txBody>
          <a:bodyPr>
            <a:normAutofit fontScale="90000"/>
          </a:bodyPr>
          <a:lstStyle/>
          <a:p>
            <a:pPr algn="ctr"/>
            <a:r>
              <a:rPr lang="en-US" dirty="0"/>
              <a:t>Features of snowflake</a:t>
            </a:r>
            <a:endParaRPr lang="en-IN" dirty="0"/>
          </a:p>
        </p:txBody>
      </p:sp>
      <p:sp>
        <p:nvSpPr>
          <p:cNvPr id="3" name="Content Placeholder 2">
            <a:extLst>
              <a:ext uri="{FF2B5EF4-FFF2-40B4-BE49-F238E27FC236}">
                <a16:creationId xmlns:a16="http://schemas.microsoft.com/office/drawing/2014/main" id="{0B94A22D-0816-4AE0-A03C-5B2A9D672C99}"/>
              </a:ext>
            </a:extLst>
          </p:cNvPr>
          <p:cNvSpPr>
            <a:spLocks noGrp="1"/>
          </p:cNvSpPr>
          <p:nvPr>
            <p:ph idx="1"/>
          </p:nvPr>
        </p:nvSpPr>
        <p:spPr>
          <a:xfrm>
            <a:off x="838200" y="1199535"/>
            <a:ext cx="10515600" cy="5293340"/>
          </a:xfrm>
        </p:spPr>
        <p:txBody>
          <a:bodyPr>
            <a:normAutofit fontScale="25000" lnSpcReduction="20000"/>
          </a:bodyPr>
          <a:lstStyle/>
          <a:p>
            <a:pPr>
              <a:lnSpc>
                <a:spcPct val="170000"/>
              </a:lnSpc>
            </a:pPr>
            <a:r>
              <a:rPr lang="en-US" sz="5600" b="1" dirty="0">
                <a:latin typeface="Times New Roman" panose="02020603050405020304" pitchFamily="18" charset="0"/>
                <a:cs typeface="Times New Roman" panose="02020603050405020304" pitchFamily="18" charset="0"/>
              </a:rPr>
              <a:t>Separation of Storage and Compute</a:t>
            </a:r>
            <a:r>
              <a:rPr lang="en-US" sz="5600" dirty="0">
                <a:latin typeface="Times New Roman" panose="02020603050405020304" pitchFamily="18" charset="0"/>
                <a:cs typeface="Times New Roman" panose="02020603050405020304" pitchFamily="18" charset="0"/>
              </a:rPr>
              <a:t>: Scale storage and compute power independently, paying only for what you use.</a:t>
            </a:r>
          </a:p>
          <a:p>
            <a:pPr>
              <a:lnSpc>
                <a:spcPct val="170000"/>
              </a:lnSpc>
            </a:pPr>
            <a:r>
              <a:rPr lang="en-US" sz="5600" b="1" dirty="0">
                <a:latin typeface="Times New Roman" panose="02020603050405020304" pitchFamily="18" charset="0"/>
                <a:cs typeface="Times New Roman" panose="02020603050405020304" pitchFamily="18" charset="0"/>
              </a:rPr>
              <a:t>Multi-Cluster Shared Data</a:t>
            </a:r>
            <a:r>
              <a:rPr lang="en-US" sz="5600" dirty="0">
                <a:latin typeface="Times New Roman" panose="02020603050405020304" pitchFamily="18" charset="0"/>
                <a:cs typeface="Times New Roman" panose="02020603050405020304" pitchFamily="18" charset="0"/>
              </a:rPr>
              <a:t>: Multiple compute clusters can access the same data simultaneously without resource contention.</a:t>
            </a:r>
          </a:p>
          <a:p>
            <a:pPr>
              <a:lnSpc>
                <a:spcPct val="170000"/>
              </a:lnSpc>
            </a:pPr>
            <a:r>
              <a:rPr lang="en-US" sz="5600" b="1" dirty="0">
                <a:latin typeface="Times New Roman" panose="02020603050405020304" pitchFamily="18" charset="0"/>
                <a:cs typeface="Times New Roman" panose="02020603050405020304" pitchFamily="18" charset="0"/>
              </a:rPr>
              <a:t>Zero-Copy Cloning</a:t>
            </a:r>
            <a:r>
              <a:rPr lang="en-US" sz="5600" dirty="0">
                <a:latin typeface="Times New Roman" panose="02020603050405020304" pitchFamily="18" charset="0"/>
                <a:cs typeface="Times New Roman" panose="02020603050405020304" pitchFamily="18" charset="0"/>
              </a:rPr>
              <a:t>: Create instant, logical copies of databases or tables  or schema without physically duplicating data or incurring additional storage costs until changes are made.</a:t>
            </a:r>
          </a:p>
          <a:p>
            <a:pPr>
              <a:lnSpc>
                <a:spcPct val="170000"/>
              </a:lnSpc>
            </a:pPr>
            <a:r>
              <a:rPr lang="en-US" sz="5600" b="1" dirty="0">
                <a:latin typeface="Times New Roman" panose="02020603050405020304" pitchFamily="18" charset="0"/>
                <a:cs typeface="Times New Roman" panose="02020603050405020304" pitchFamily="18" charset="0"/>
              </a:rPr>
              <a:t>Time Travel</a:t>
            </a:r>
            <a:r>
              <a:rPr lang="en-US" sz="5600" dirty="0">
                <a:latin typeface="Times New Roman" panose="02020603050405020304" pitchFamily="18" charset="0"/>
                <a:cs typeface="Times New Roman" panose="02020603050405020304" pitchFamily="18" charset="0"/>
              </a:rPr>
              <a:t>: Query and restore historical data that has been altered or deleted for up to 90 days.</a:t>
            </a:r>
          </a:p>
          <a:p>
            <a:pPr>
              <a:lnSpc>
                <a:spcPct val="170000"/>
              </a:lnSpc>
            </a:pPr>
            <a:r>
              <a:rPr lang="en-US" sz="5600" b="1" dirty="0">
                <a:latin typeface="Times New Roman" panose="02020603050405020304" pitchFamily="18" charset="0"/>
                <a:cs typeface="Times New Roman" panose="02020603050405020304" pitchFamily="18" charset="0"/>
              </a:rPr>
              <a:t>Secure Data Sharing</a:t>
            </a:r>
            <a:r>
              <a:rPr lang="en-US" sz="5600" dirty="0">
                <a:latin typeface="Times New Roman" panose="02020603050405020304" pitchFamily="18" charset="0"/>
                <a:cs typeface="Times New Roman" panose="02020603050405020304" pitchFamily="18" charset="0"/>
              </a:rPr>
              <a:t>: Share live, real-time data with other accounts or external partners without copying or moving files.</a:t>
            </a:r>
          </a:p>
          <a:p>
            <a:pPr>
              <a:lnSpc>
                <a:spcPct val="170000"/>
              </a:lnSpc>
            </a:pPr>
            <a:r>
              <a:rPr lang="en-US" sz="5600" b="1" dirty="0">
                <a:latin typeface="Times New Roman" panose="02020603050405020304" pitchFamily="18" charset="0"/>
                <a:cs typeface="Times New Roman" panose="02020603050405020304" pitchFamily="18" charset="0"/>
              </a:rPr>
              <a:t>Support for Semi-Structured Data</a:t>
            </a:r>
            <a:r>
              <a:rPr lang="en-US" sz="5600" dirty="0">
                <a:latin typeface="Times New Roman" panose="02020603050405020304" pitchFamily="18" charset="0"/>
                <a:cs typeface="Times New Roman" panose="02020603050405020304" pitchFamily="18" charset="0"/>
              </a:rPr>
              <a:t>: Natively handles formats like JSON, Avro, Parquet, and XML using a specialized VARIANT data type.</a:t>
            </a:r>
          </a:p>
          <a:p>
            <a:pPr>
              <a:lnSpc>
                <a:spcPct val="170000"/>
              </a:lnSpc>
            </a:pPr>
            <a:r>
              <a:rPr lang="en-US" sz="5600" b="1" dirty="0">
                <a:latin typeface="Times New Roman" panose="02020603050405020304" pitchFamily="18" charset="0"/>
                <a:cs typeface="Times New Roman" panose="02020603050405020304" pitchFamily="18" charset="0"/>
              </a:rPr>
              <a:t>Auto-Scaling &amp; Concurrency</a:t>
            </a:r>
            <a:r>
              <a:rPr lang="en-US" sz="5600" dirty="0">
                <a:latin typeface="Times New Roman" panose="02020603050405020304" pitchFamily="18" charset="0"/>
                <a:cs typeface="Times New Roman" panose="02020603050405020304" pitchFamily="18" charset="0"/>
              </a:rPr>
              <a:t>: Automatically expands compute resources to handle peak user demands and shrinks them when idle to optimize costs.</a:t>
            </a:r>
          </a:p>
          <a:p>
            <a:pPr>
              <a:lnSpc>
                <a:spcPct val="170000"/>
              </a:lnSpc>
            </a:pPr>
            <a:r>
              <a:rPr lang="en-US" sz="5600" b="1" dirty="0">
                <a:latin typeface="Times New Roman" panose="02020603050405020304" pitchFamily="18" charset="0"/>
                <a:cs typeface="Times New Roman" panose="02020603050405020304" pitchFamily="18" charset="0"/>
              </a:rPr>
              <a:t>Near-Zero Management</a:t>
            </a:r>
            <a:r>
              <a:rPr lang="en-US" sz="5600" dirty="0">
                <a:latin typeface="Times New Roman" panose="02020603050405020304" pitchFamily="18" charset="0"/>
                <a:cs typeface="Times New Roman" panose="02020603050405020304" pitchFamily="18" charset="0"/>
              </a:rPr>
              <a:t>: Automates database optimization, indexing, and software updates, eliminating the need for manual tuning or hardware management.</a:t>
            </a:r>
          </a:p>
          <a:p>
            <a:pPr>
              <a:lnSpc>
                <a:spcPct val="170000"/>
              </a:lnSpc>
            </a:pPr>
            <a:r>
              <a:rPr lang="en-US" sz="5600" b="1" dirty="0" err="1">
                <a:latin typeface="Times New Roman" panose="02020603050405020304" pitchFamily="18" charset="0"/>
                <a:cs typeface="Times New Roman" panose="02020603050405020304" pitchFamily="18" charset="0"/>
              </a:rPr>
              <a:t>Snowgrid</a:t>
            </a:r>
            <a:r>
              <a:rPr lang="en-US" sz="5600" b="1" dirty="0">
                <a:latin typeface="Times New Roman" panose="02020603050405020304" pitchFamily="18" charset="0"/>
                <a:cs typeface="Times New Roman" panose="02020603050405020304" pitchFamily="18" charset="0"/>
              </a:rPr>
              <a:t> (Multi-Cloud)</a:t>
            </a:r>
            <a:r>
              <a:rPr lang="en-US" sz="5600" dirty="0">
                <a:latin typeface="Times New Roman" panose="02020603050405020304" pitchFamily="18" charset="0"/>
                <a:cs typeface="Times New Roman" panose="02020603050405020304" pitchFamily="18" charset="0"/>
              </a:rPr>
              <a:t>: Provides a consistent experience across AWS, Azure, and Google Cloud, allowing for global data replication and disaster recovery.</a:t>
            </a:r>
          </a:p>
          <a:p>
            <a:endParaRPr lang="en-IN" dirty="0"/>
          </a:p>
        </p:txBody>
      </p:sp>
    </p:spTree>
    <p:extLst>
      <p:ext uri="{BB962C8B-B14F-4D97-AF65-F5344CB8AC3E}">
        <p14:creationId xmlns:p14="http://schemas.microsoft.com/office/powerpoint/2010/main" val="356697720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F0EB61-A41B-8E78-2F75-6E0B600A14EE}"/>
              </a:ext>
            </a:extLst>
          </p:cNvPr>
          <p:cNvSpPr>
            <a:spLocks noGrp="1"/>
          </p:cNvSpPr>
          <p:nvPr>
            <p:ph type="title"/>
          </p:nvPr>
        </p:nvSpPr>
        <p:spPr>
          <a:xfrm>
            <a:off x="838200" y="365126"/>
            <a:ext cx="10515600" cy="578772"/>
          </a:xfrm>
        </p:spPr>
        <p:txBody>
          <a:bodyPr>
            <a:normAutofit fontScale="90000"/>
          </a:bodyPr>
          <a:lstStyle/>
          <a:p>
            <a:pPr algn="ctr"/>
            <a:r>
              <a:rPr lang="en-US" dirty="0"/>
              <a:t>Snowflake architecture</a:t>
            </a:r>
            <a:endParaRPr lang="en-IN" dirty="0"/>
          </a:p>
        </p:txBody>
      </p:sp>
      <p:pic>
        <p:nvPicPr>
          <p:cNvPr id="4098" name="Picture 2" descr="Snowflake_Architecture_2">
            <a:extLst>
              <a:ext uri="{FF2B5EF4-FFF2-40B4-BE49-F238E27FC236}">
                <a16:creationId xmlns:a16="http://schemas.microsoft.com/office/drawing/2014/main" id="{1DF65D18-3569-A490-97A8-4E7677CCBF52}"/>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55639" y="1199536"/>
            <a:ext cx="11749547" cy="565846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2346122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862597-637A-0C48-60C9-462B16D07EC1}"/>
              </a:ext>
            </a:extLst>
          </p:cNvPr>
          <p:cNvSpPr>
            <a:spLocks noGrp="1"/>
          </p:cNvSpPr>
          <p:nvPr>
            <p:ph type="title"/>
          </p:nvPr>
        </p:nvSpPr>
        <p:spPr/>
        <p:txBody>
          <a:bodyPr/>
          <a:lstStyle/>
          <a:p>
            <a:r>
              <a:rPr lang="en-US" dirty="0"/>
              <a:t>Data storage layer</a:t>
            </a:r>
            <a:endParaRPr lang="en-IN" dirty="0"/>
          </a:p>
        </p:txBody>
      </p:sp>
      <p:sp>
        <p:nvSpPr>
          <p:cNvPr id="3" name="Content Placeholder 2">
            <a:extLst>
              <a:ext uri="{FF2B5EF4-FFF2-40B4-BE49-F238E27FC236}">
                <a16:creationId xmlns:a16="http://schemas.microsoft.com/office/drawing/2014/main" id="{2FE1079A-0E1F-1D88-E41E-F316A50CBC0B}"/>
              </a:ext>
            </a:extLst>
          </p:cNvPr>
          <p:cNvSpPr>
            <a:spLocks noGrp="1"/>
          </p:cNvSpPr>
          <p:nvPr>
            <p:ph idx="1"/>
          </p:nvPr>
        </p:nvSpPr>
        <p:spPr>
          <a:xfrm>
            <a:off x="838200" y="1825625"/>
            <a:ext cx="10515600" cy="4408028"/>
          </a:xfrm>
        </p:spPr>
        <p:txBody>
          <a:bodyPr>
            <a:normAutofit/>
          </a:bodyPr>
          <a:lstStyle/>
          <a:p>
            <a:r>
              <a:rPr lang="en-US" sz="2400" dirty="0">
                <a:latin typeface="Times New Roman" panose="02020603050405020304" pitchFamily="18" charset="0"/>
                <a:cs typeface="Times New Roman" panose="02020603050405020304" pitchFamily="18" charset="0"/>
              </a:rPr>
              <a:t>All data in Snowflake tables is automatically divided into </a:t>
            </a:r>
            <a:r>
              <a:rPr lang="en-US" sz="2400" i="1" dirty="0">
                <a:latin typeface="Times New Roman" panose="02020603050405020304" pitchFamily="18" charset="0"/>
                <a:cs typeface="Times New Roman" panose="02020603050405020304" pitchFamily="18" charset="0"/>
              </a:rPr>
              <a:t>micro-partitions</a:t>
            </a:r>
            <a:r>
              <a:rPr lang="en-US" sz="2400" dirty="0">
                <a:latin typeface="Times New Roman" panose="02020603050405020304" pitchFamily="18" charset="0"/>
                <a:cs typeface="Times New Roman" panose="02020603050405020304" pitchFamily="18" charset="0"/>
              </a:rPr>
              <a:t>, which are contiguous units of storage. Micro-partitions improve efficiency and provide other benefits.</a:t>
            </a:r>
            <a:endParaRPr lang="en-US" sz="2400" i="1" dirty="0">
              <a:latin typeface="Times New Roman" panose="02020603050405020304" pitchFamily="18" charset="0"/>
              <a:cs typeface="Times New Roman" panose="02020603050405020304" pitchFamily="18" charset="0"/>
            </a:endParaRPr>
          </a:p>
          <a:p>
            <a:r>
              <a:rPr lang="en-US" sz="2400" dirty="0">
                <a:latin typeface="Times New Roman" panose="02020603050405020304" pitchFamily="18" charset="0"/>
                <a:cs typeface="Times New Roman" panose="02020603050405020304" pitchFamily="18" charset="0"/>
              </a:rPr>
              <a:t>It stores structured, semi-structured and unstructured data</a:t>
            </a:r>
          </a:p>
          <a:p>
            <a:pPr marL="514350" indent="-514350">
              <a:buFont typeface="+mj-lt"/>
              <a:buAutoNum type="alphaLcParenR"/>
            </a:pPr>
            <a:r>
              <a:rPr lang="en-US" sz="2400" dirty="0">
                <a:latin typeface="Times New Roman" panose="02020603050405020304" pitchFamily="18" charset="0"/>
                <a:cs typeface="Times New Roman" panose="02020603050405020304" pitchFamily="18" charset="0"/>
              </a:rPr>
              <a:t>Structured data — such as rows and columns in a table — follows a strict tabular schema.</a:t>
            </a:r>
          </a:p>
          <a:p>
            <a:pPr marL="514350" indent="-514350">
              <a:buFont typeface="+mj-lt"/>
              <a:buAutoNum type="alphaLcParenR"/>
            </a:pPr>
            <a:r>
              <a:rPr lang="en-US" sz="2400" dirty="0">
                <a:latin typeface="Times New Roman" panose="02020603050405020304" pitchFamily="18" charset="0"/>
                <a:cs typeface="Times New Roman" panose="02020603050405020304" pitchFamily="18" charset="0"/>
              </a:rPr>
              <a:t>Semi-structured data — such as a JSON file or an XML file — has a flexible schema.</a:t>
            </a:r>
          </a:p>
          <a:p>
            <a:pPr marL="514350" indent="-514350">
              <a:buFont typeface="+mj-lt"/>
              <a:buAutoNum type="alphaLcParenR"/>
            </a:pPr>
            <a:r>
              <a:rPr lang="en-US" sz="2400" dirty="0">
                <a:latin typeface="Times New Roman" panose="02020603050405020304" pitchFamily="18" charset="0"/>
                <a:cs typeface="Times New Roman" panose="02020603050405020304" pitchFamily="18" charset="0"/>
              </a:rPr>
              <a:t>Unstructured data — such as a document, image, or audio file — has no inherent schema.</a:t>
            </a:r>
          </a:p>
          <a:p>
            <a:endParaRPr lang="en-IN" dirty="0"/>
          </a:p>
          <a:p>
            <a:endParaRPr lang="en-IN" dirty="0"/>
          </a:p>
        </p:txBody>
      </p:sp>
    </p:spTree>
    <p:extLst>
      <p:ext uri="{BB962C8B-B14F-4D97-AF65-F5344CB8AC3E}">
        <p14:creationId xmlns:p14="http://schemas.microsoft.com/office/powerpoint/2010/main" val="112294544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511376-8C46-0A42-5218-A80926D1AFD0}"/>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325FAF03-D5D0-7E18-8673-73CEB582E6A0}"/>
              </a:ext>
            </a:extLst>
          </p:cNvPr>
          <p:cNvSpPr>
            <a:spLocks noGrp="1"/>
          </p:cNvSpPr>
          <p:nvPr>
            <p:ph idx="1"/>
          </p:nvPr>
        </p:nvSpPr>
        <p:spPr/>
        <p:txBody>
          <a:bodyPr/>
          <a:lstStyle/>
          <a:p>
            <a:r>
              <a:rPr lang="en-US" dirty="0"/>
              <a:t>When you load data into </a:t>
            </a:r>
            <a:r>
              <a:rPr lang="en-US" dirty="0">
                <a:hlinkClick r:id="rId2"/>
              </a:rPr>
              <a:t>Snowflake</a:t>
            </a:r>
            <a:r>
              <a:rPr lang="en-US" dirty="0"/>
              <a:t>, it is automatically reorganized into an internally optimized, </a:t>
            </a:r>
            <a:r>
              <a:rPr lang="en-US" b="1" dirty="0"/>
              <a:t>compressed, and columnar format</a:t>
            </a:r>
            <a:r>
              <a:rPr lang="en-US" dirty="0"/>
              <a:t>.</a:t>
            </a:r>
          </a:p>
          <a:p>
            <a:r>
              <a:rPr lang="en-US" b="1" dirty="0"/>
              <a:t>Micro-partitions:</a:t>
            </a:r>
            <a:r>
              <a:rPr lang="en-US" dirty="0"/>
              <a:t> Data is stored in small, contiguous units of storage called micro-partitions, which enhance query efficiency by allowing the system to scan only the necessary data.</a:t>
            </a:r>
          </a:p>
          <a:p>
            <a:endParaRPr lang="en-IN" dirty="0"/>
          </a:p>
        </p:txBody>
      </p:sp>
    </p:spTree>
    <p:extLst>
      <p:ext uri="{BB962C8B-B14F-4D97-AF65-F5344CB8AC3E}">
        <p14:creationId xmlns:p14="http://schemas.microsoft.com/office/powerpoint/2010/main" val="16868119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91144C-FAF5-BD3C-1713-744C191F3BD2}"/>
              </a:ext>
            </a:extLst>
          </p:cNvPr>
          <p:cNvSpPr>
            <a:spLocks noGrp="1"/>
          </p:cNvSpPr>
          <p:nvPr>
            <p:ph type="title"/>
          </p:nvPr>
        </p:nvSpPr>
        <p:spPr/>
        <p:txBody>
          <a:bodyPr/>
          <a:lstStyle/>
          <a:p>
            <a:r>
              <a:rPr lang="en-US" dirty="0"/>
              <a:t>Query processing layer/compute layer</a:t>
            </a:r>
            <a:endParaRPr lang="en-IN" dirty="0"/>
          </a:p>
        </p:txBody>
      </p:sp>
      <p:sp>
        <p:nvSpPr>
          <p:cNvPr id="3" name="Content Placeholder 2">
            <a:extLst>
              <a:ext uri="{FF2B5EF4-FFF2-40B4-BE49-F238E27FC236}">
                <a16:creationId xmlns:a16="http://schemas.microsoft.com/office/drawing/2014/main" id="{D423EC70-4946-805E-871D-361BC6D0C6C0}"/>
              </a:ext>
            </a:extLst>
          </p:cNvPr>
          <p:cNvSpPr>
            <a:spLocks noGrp="1"/>
          </p:cNvSpPr>
          <p:nvPr>
            <p:ph idx="1"/>
          </p:nvPr>
        </p:nvSpPr>
        <p:spPr/>
        <p:txBody>
          <a:bodyPr>
            <a:normAutofit/>
          </a:bodyPr>
          <a:lstStyle/>
          <a:p>
            <a:r>
              <a:rPr lang="en-US" sz="2400" dirty="0">
                <a:latin typeface="Times New Roman" panose="02020603050405020304" pitchFamily="18" charset="0"/>
                <a:cs typeface="Times New Roman" panose="02020603050405020304" pitchFamily="18" charset="0"/>
              </a:rPr>
              <a:t>This layer handles actual query execution using MPP (massively parallel processing) compute clusters known as </a:t>
            </a:r>
            <a:r>
              <a:rPr lang="en-US" sz="2400" b="1" dirty="0">
                <a:latin typeface="Times New Roman" panose="02020603050405020304" pitchFamily="18" charset="0"/>
                <a:cs typeface="Times New Roman" panose="02020603050405020304" pitchFamily="18" charset="0"/>
              </a:rPr>
              <a:t>Virtual Warehouses</a:t>
            </a:r>
          </a:p>
          <a:p>
            <a:r>
              <a:rPr lang="en-US" sz="2400" dirty="0">
                <a:latin typeface="Times New Roman" panose="02020603050405020304" pitchFamily="18" charset="0"/>
                <a:cs typeface="Times New Roman" panose="02020603050405020304" pitchFamily="18" charset="0"/>
              </a:rPr>
              <a:t>A virtual warehouse is a cluster of compute resources in Snowflake</a:t>
            </a:r>
          </a:p>
          <a:p>
            <a:r>
              <a:rPr lang="en-US" sz="2400" b="1" dirty="0">
                <a:latin typeface="Times New Roman" panose="02020603050405020304" pitchFamily="18" charset="0"/>
                <a:cs typeface="Times New Roman" panose="02020603050405020304" pitchFamily="18" charset="0"/>
              </a:rPr>
              <a:t>Independent Scaling:</a:t>
            </a:r>
            <a:r>
              <a:rPr lang="en-US" sz="2400" dirty="0">
                <a:latin typeface="Times New Roman" panose="02020603050405020304" pitchFamily="18" charset="0"/>
                <a:cs typeface="Times New Roman" panose="02020603050405020304" pitchFamily="18" charset="0"/>
              </a:rPr>
              <a:t> Each virtual warehouse is a separate compute cluster that does not share resources with others. </a:t>
            </a:r>
          </a:p>
          <a:p>
            <a:r>
              <a:rPr lang="en-US" sz="2400" b="1" dirty="0">
                <a:latin typeface="Times New Roman" panose="02020603050405020304" pitchFamily="18" charset="0"/>
                <a:cs typeface="Times New Roman" panose="02020603050405020304" pitchFamily="18" charset="0"/>
              </a:rPr>
              <a:t>Elasticity:</a:t>
            </a:r>
            <a:r>
              <a:rPr lang="en-US" sz="2400" dirty="0">
                <a:latin typeface="Times New Roman" panose="02020603050405020304" pitchFamily="18" charset="0"/>
                <a:cs typeface="Times New Roman" panose="02020603050405020304" pitchFamily="18" charset="0"/>
              </a:rPr>
              <a:t> Warehouses can be </a:t>
            </a:r>
            <a:r>
              <a:rPr lang="en-US" sz="2400" dirty="0">
                <a:latin typeface="Times New Roman" panose="02020603050405020304" pitchFamily="18" charset="0"/>
                <a:cs typeface="Times New Roman" panose="02020603050405020304" pitchFamily="18" charset="0"/>
                <a:hlinkClick r:id="rId2"/>
              </a:rPr>
              <a:t>resized, paused, or resumed</a:t>
            </a:r>
            <a:r>
              <a:rPr lang="en-US" sz="2400" dirty="0">
                <a:latin typeface="Times New Roman" panose="02020603050405020304" pitchFamily="18" charset="0"/>
                <a:cs typeface="Times New Roman" panose="02020603050405020304" pitchFamily="18" charset="0"/>
              </a:rPr>
              <a:t> instantly, and you only pay for the compute time you actually use</a:t>
            </a:r>
          </a:p>
          <a:p>
            <a:pPr marL="0" indent="0">
              <a:buNone/>
            </a:pPr>
            <a:endParaRPr lang="en-US" i="1" dirty="0">
              <a:latin typeface="Times New Roman" panose="02020603050405020304" pitchFamily="18" charset="0"/>
              <a:cs typeface="Times New Roman" panose="02020603050405020304" pitchFamily="18" charset="0"/>
            </a:endParaRPr>
          </a:p>
          <a:p>
            <a:pPr marL="0" indent="0">
              <a:buNone/>
            </a:pPr>
            <a:endParaRPr lang="en-US" i="1" dirty="0">
              <a:latin typeface="Times New Roman" panose="02020603050405020304" pitchFamily="18" charset="0"/>
              <a:cs typeface="Times New Roman" panose="02020603050405020304" pitchFamily="18" charset="0"/>
            </a:endParaRPr>
          </a:p>
          <a:p>
            <a:endParaRPr lang="en-IN" i="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64171987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3AF119-CEF3-8241-E776-E56DB9F7DD67}"/>
              </a:ext>
            </a:extLst>
          </p:cNvPr>
          <p:cNvSpPr>
            <a:spLocks noGrp="1"/>
          </p:cNvSpPr>
          <p:nvPr>
            <p:ph type="title"/>
          </p:nvPr>
        </p:nvSpPr>
        <p:spPr/>
        <p:txBody>
          <a:bodyPr/>
          <a:lstStyle/>
          <a:p>
            <a:r>
              <a:rPr lang="en-US" dirty="0"/>
              <a:t>Cloud services layer</a:t>
            </a:r>
            <a:endParaRPr lang="en-IN" dirty="0"/>
          </a:p>
        </p:txBody>
      </p:sp>
      <p:sp>
        <p:nvSpPr>
          <p:cNvPr id="3" name="Content Placeholder 2">
            <a:extLst>
              <a:ext uri="{FF2B5EF4-FFF2-40B4-BE49-F238E27FC236}">
                <a16:creationId xmlns:a16="http://schemas.microsoft.com/office/drawing/2014/main" id="{BA58663B-50AA-53B6-DEED-B7466611CFEB}"/>
              </a:ext>
            </a:extLst>
          </p:cNvPr>
          <p:cNvSpPr>
            <a:spLocks noGrp="1"/>
          </p:cNvSpPr>
          <p:nvPr>
            <p:ph idx="1"/>
          </p:nvPr>
        </p:nvSpPr>
        <p:spPr/>
        <p:txBody>
          <a:bodyPr/>
          <a:lstStyle/>
          <a:p>
            <a:r>
              <a:rPr lang="en-US" dirty="0"/>
              <a:t>Brain of the system</a:t>
            </a:r>
          </a:p>
          <a:p>
            <a:r>
              <a:rPr lang="en-US"/>
              <a:t>the Cloud Services Layer serves as the control plane, managing information, security, and user access.</a:t>
            </a:r>
            <a:endParaRPr lang="en-IN" dirty="0"/>
          </a:p>
        </p:txBody>
      </p:sp>
    </p:spTree>
    <p:extLst>
      <p:ext uri="{BB962C8B-B14F-4D97-AF65-F5344CB8AC3E}">
        <p14:creationId xmlns:p14="http://schemas.microsoft.com/office/powerpoint/2010/main" val="72512109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E1A848-6755-95E5-CBE0-2EE106CB6C02}"/>
              </a:ext>
            </a:extLst>
          </p:cNvPr>
          <p:cNvSpPr>
            <a:spLocks noGrp="1"/>
          </p:cNvSpPr>
          <p:nvPr>
            <p:ph type="title"/>
          </p:nvPr>
        </p:nvSpPr>
        <p:spPr/>
        <p:txBody>
          <a:bodyPr/>
          <a:lstStyle/>
          <a:p>
            <a:pPr algn="ctr"/>
            <a:r>
              <a:rPr lang="en-US" b="1" dirty="0"/>
              <a:t>Editions</a:t>
            </a:r>
            <a:r>
              <a:rPr lang="en-US" dirty="0"/>
              <a:t> </a:t>
            </a:r>
            <a:endParaRPr lang="en-IN" dirty="0"/>
          </a:p>
        </p:txBody>
      </p:sp>
      <p:sp>
        <p:nvSpPr>
          <p:cNvPr id="3" name="Content Placeholder 2">
            <a:extLst>
              <a:ext uri="{FF2B5EF4-FFF2-40B4-BE49-F238E27FC236}">
                <a16:creationId xmlns:a16="http://schemas.microsoft.com/office/drawing/2014/main" id="{B3204DD4-B81C-FD13-45FF-D1F7DDD02D46}"/>
              </a:ext>
            </a:extLst>
          </p:cNvPr>
          <p:cNvSpPr>
            <a:spLocks noGrp="1"/>
          </p:cNvSpPr>
          <p:nvPr>
            <p:ph idx="1"/>
          </p:nvPr>
        </p:nvSpPr>
        <p:spPr/>
        <p:txBody>
          <a:bodyPr>
            <a:normAutofit/>
          </a:bodyPr>
          <a:lstStyle/>
          <a:p>
            <a:r>
              <a:rPr lang="en-US" b="1" dirty="0"/>
              <a:t>Standard </a:t>
            </a:r>
          </a:p>
          <a:p>
            <a:pPr marL="571500" indent="-571500">
              <a:buFont typeface="+mj-lt"/>
              <a:buAutoNum type="romanLcPeriod"/>
            </a:pPr>
            <a:r>
              <a:rPr lang="en-US" dirty="0"/>
              <a:t>Standard Edition is our introductory level offering, providing full, unlimited access to all of Snowflake’s standard features.</a:t>
            </a:r>
          </a:p>
          <a:p>
            <a:pPr marL="0" indent="0">
              <a:buNone/>
            </a:pPr>
            <a:endParaRPr lang="en-US" dirty="0"/>
          </a:p>
          <a:p>
            <a:r>
              <a:rPr lang="en-US" b="1" dirty="0"/>
              <a:t>Enterprise</a:t>
            </a:r>
          </a:p>
          <a:p>
            <a:pPr marL="571500" indent="-571500">
              <a:buFont typeface="+mj-lt"/>
              <a:buAutoNum type="romanLcPeriod"/>
            </a:pPr>
            <a:r>
              <a:rPr lang="en-US" dirty="0"/>
              <a:t>Enterprise Edition provides all the features and services of </a:t>
            </a:r>
            <a:r>
              <a:rPr lang="en-US" dirty="0">
                <a:hlinkClick r:id="rId2"/>
              </a:rPr>
              <a:t>Standard Edition</a:t>
            </a:r>
            <a:r>
              <a:rPr lang="en-US" dirty="0"/>
              <a:t>, with additional features that are designed specifically for the needs of large-scale enterprises and organizations.</a:t>
            </a:r>
          </a:p>
          <a:p>
            <a:pPr marL="0" indent="0">
              <a:buNone/>
            </a:pPr>
            <a:endParaRPr lang="en-IN" dirty="0"/>
          </a:p>
        </p:txBody>
      </p:sp>
    </p:spTree>
    <p:extLst>
      <p:ext uri="{BB962C8B-B14F-4D97-AF65-F5344CB8AC3E}">
        <p14:creationId xmlns:p14="http://schemas.microsoft.com/office/powerpoint/2010/main" val="158213120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ABD168-9C9C-943E-EECF-EB10C6CB315F}"/>
              </a:ext>
            </a:extLst>
          </p:cNvPr>
          <p:cNvSpPr>
            <a:spLocks noGrp="1"/>
          </p:cNvSpPr>
          <p:nvPr>
            <p:ph type="title"/>
          </p:nvPr>
        </p:nvSpPr>
        <p:spPr>
          <a:xfrm>
            <a:off x="838200" y="365125"/>
            <a:ext cx="10515600" cy="490281"/>
          </a:xfrm>
        </p:spPr>
        <p:txBody>
          <a:bodyPr>
            <a:normAutofit fontScale="90000"/>
          </a:bodyPr>
          <a:lstStyle/>
          <a:p>
            <a:endParaRPr lang="en-IN" dirty="0"/>
          </a:p>
        </p:txBody>
      </p:sp>
      <p:sp>
        <p:nvSpPr>
          <p:cNvPr id="3" name="Content Placeholder 2">
            <a:extLst>
              <a:ext uri="{FF2B5EF4-FFF2-40B4-BE49-F238E27FC236}">
                <a16:creationId xmlns:a16="http://schemas.microsoft.com/office/drawing/2014/main" id="{4D49D41E-55BE-D0C3-E6EC-210EC2A42CC8}"/>
              </a:ext>
            </a:extLst>
          </p:cNvPr>
          <p:cNvSpPr>
            <a:spLocks noGrp="1"/>
          </p:cNvSpPr>
          <p:nvPr>
            <p:ph idx="1"/>
          </p:nvPr>
        </p:nvSpPr>
        <p:spPr>
          <a:xfrm>
            <a:off x="838200" y="1101213"/>
            <a:ext cx="10515600" cy="5075750"/>
          </a:xfrm>
        </p:spPr>
        <p:txBody>
          <a:bodyPr>
            <a:normAutofit/>
          </a:bodyPr>
          <a:lstStyle/>
          <a:p>
            <a:pPr>
              <a:lnSpc>
                <a:spcPct val="100000"/>
              </a:lnSpc>
            </a:pPr>
            <a:r>
              <a:rPr lang="en-US" sz="2400" b="1" dirty="0">
                <a:latin typeface="Times New Roman" panose="02020603050405020304" pitchFamily="18" charset="0"/>
                <a:cs typeface="Times New Roman" panose="02020603050405020304" pitchFamily="18" charset="0"/>
              </a:rPr>
              <a:t>Business Critical</a:t>
            </a:r>
          </a:p>
          <a:p>
            <a:pPr marL="571500" indent="-571500">
              <a:lnSpc>
                <a:spcPct val="100000"/>
              </a:lnSpc>
              <a:buFont typeface="+mj-lt"/>
              <a:buAutoNum type="romanLcPeriod"/>
            </a:pPr>
            <a:r>
              <a:rPr lang="en-US" sz="2400" dirty="0">
                <a:latin typeface="Times New Roman" panose="02020603050405020304" pitchFamily="18" charset="0"/>
                <a:cs typeface="Times New Roman" panose="02020603050405020304" pitchFamily="18" charset="0"/>
              </a:rPr>
              <a:t>It includes all the features and services of </a:t>
            </a:r>
            <a:r>
              <a:rPr lang="en-US" sz="2400" dirty="0">
                <a:latin typeface="Times New Roman" panose="02020603050405020304" pitchFamily="18" charset="0"/>
                <a:cs typeface="Times New Roman" panose="02020603050405020304" pitchFamily="18" charset="0"/>
                <a:hlinkClick r:id="rId2"/>
              </a:rPr>
              <a:t>Enterprise Edition</a:t>
            </a:r>
            <a:r>
              <a:rPr lang="en-US" sz="2400" dirty="0">
                <a:latin typeface="Times New Roman" panose="02020603050405020304" pitchFamily="18" charset="0"/>
                <a:cs typeface="Times New Roman" panose="02020603050405020304" pitchFamily="18" charset="0"/>
              </a:rPr>
              <a:t>, with the addition of enhanced security and data protection. In addition, account failover/failback adds support for business continuity and disaster recovery.</a:t>
            </a:r>
          </a:p>
          <a:p>
            <a:pPr>
              <a:lnSpc>
                <a:spcPct val="100000"/>
              </a:lnSpc>
            </a:pPr>
            <a:r>
              <a:rPr lang="en-US" sz="2400" b="1" dirty="0">
                <a:latin typeface="Times New Roman" panose="02020603050405020304" pitchFamily="18" charset="0"/>
                <a:cs typeface="Times New Roman" panose="02020603050405020304" pitchFamily="18" charset="0"/>
              </a:rPr>
              <a:t>Virtual Private Snowflake (VPS)</a:t>
            </a:r>
          </a:p>
          <a:p>
            <a:pPr marL="571500" indent="-571500">
              <a:lnSpc>
                <a:spcPct val="100000"/>
              </a:lnSpc>
              <a:buFont typeface="+mj-lt"/>
              <a:buAutoNum type="romanLcPeriod"/>
            </a:pPr>
            <a:r>
              <a:rPr lang="en-US" sz="2400" dirty="0">
                <a:latin typeface="Times New Roman" panose="02020603050405020304" pitchFamily="18" charset="0"/>
                <a:cs typeface="Times New Roman" panose="02020603050405020304" pitchFamily="18" charset="0"/>
              </a:rPr>
              <a:t>It includes all the features and services of </a:t>
            </a:r>
            <a:r>
              <a:rPr lang="en-US" sz="2400" dirty="0">
                <a:latin typeface="Times New Roman" panose="02020603050405020304" pitchFamily="18" charset="0"/>
                <a:cs typeface="Times New Roman" panose="02020603050405020304" pitchFamily="18" charset="0"/>
                <a:hlinkClick r:id="rId3"/>
              </a:rPr>
              <a:t>Business Critical Edition</a:t>
            </a:r>
            <a:r>
              <a:rPr lang="en-US" sz="2400" dirty="0">
                <a:latin typeface="Times New Roman" panose="02020603050405020304" pitchFamily="18" charset="0"/>
                <a:cs typeface="Times New Roman" panose="02020603050405020304" pitchFamily="18" charset="0"/>
              </a:rPr>
              <a:t>, but in a completely separate Snowflake environment, isolated from all other Snowflake accounts (i.e. VPS accounts do not share any type of hardware resources with accounts outside the VPS).</a:t>
            </a:r>
          </a:p>
          <a:p>
            <a:pPr marL="571500" indent="-571500">
              <a:lnSpc>
                <a:spcPct val="100000"/>
              </a:lnSpc>
              <a:buFont typeface="+mj-lt"/>
              <a:buAutoNum type="romanLcPeriod"/>
            </a:pPr>
            <a:r>
              <a:rPr lang="en-US" sz="2400" dirty="0">
                <a:latin typeface="Times New Roman" panose="02020603050405020304" pitchFamily="18" charset="0"/>
                <a:cs typeface="Times New Roman" panose="02020603050405020304" pitchFamily="18" charset="0"/>
              </a:rPr>
              <a:t>Virtual Private Snowflake offers our highest level of security for organizations that have the strictest requirements, such as financial institutions and any other large enterprises that collect, analyze, and share highly sensitive data.</a:t>
            </a: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63868194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4F11A4-0593-2432-38F8-6D96D490041E}"/>
              </a:ext>
            </a:extLst>
          </p:cNvPr>
          <p:cNvSpPr>
            <a:spLocks noGrp="1"/>
          </p:cNvSpPr>
          <p:nvPr>
            <p:ph type="title"/>
          </p:nvPr>
        </p:nvSpPr>
        <p:spPr>
          <a:xfrm>
            <a:off x="838200" y="365125"/>
            <a:ext cx="10515600" cy="559107"/>
          </a:xfrm>
        </p:spPr>
        <p:txBody>
          <a:bodyPr>
            <a:normAutofit fontScale="90000"/>
          </a:bodyPr>
          <a:lstStyle/>
          <a:p>
            <a:pPr algn="ctr"/>
            <a:r>
              <a:rPr lang="en-US" dirty="0"/>
              <a:t>Pricing </a:t>
            </a:r>
            <a:endParaRPr lang="en-IN" dirty="0"/>
          </a:p>
        </p:txBody>
      </p:sp>
      <p:sp>
        <p:nvSpPr>
          <p:cNvPr id="3" name="Content Placeholder 2">
            <a:extLst>
              <a:ext uri="{FF2B5EF4-FFF2-40B4-BE49-F238E27FC236}">
                <a16:creationId xmlns:a16="http://schemas.microsoft.com/office/drawing/2014/main" id="{95FC53D1-691D-E3A8-B4E8-4324EE7661B1}"/>
              </a:ext>
            </a:extLst>
          </p:cNvPr>
          <p:cNvSpPr>
            <a:spLocks noGrp="1"/>
          </p:cNvSpPr>
          <p:nvPr>
            <p:ph idx="1"/>
          </p:nvPr>
        </p:nvSpPr>
        <p:spPr>
          <a:xfrm>
            <a:off x="838200" y="1140542"/>
            <a:ext cx="10515600" cy="5036421"/>
          </a:xfrm>
        </p:spPr>
        <p:txBody>
          <a:bodyPr>
            <a:normAutofit/>
          </a:bodyPr>
          <a:lstStyle/>
          <a:p>
            <a:pPr>
              <a:lnSpc>
                <a:spcPct val="100000"/>
              </a:lnSpc>
            </a:pPr>
            <a:r>
              <a:rPr lang="en-US" sz="2400" dirty="0">
                <a:latin typeface="Times New Roman" panose="02020603050405020304" pitchFamily="18" charset="0"/>
                <a:cs typeface="Times New Roman" panose="02020603050405020304" pitchFamily="18" charset="0"/>
              </a:rPr>
              <a:t>Your total bill is primarily driven by three main pillars: </a:t>
            </a:r>
            <a:r>
              <a:rPr lang="en-US" sz="2400" b="1" dirty="0">
                <a:latin typeface="Times New Roman" panose="02020603050405020304" pitchFamily="18" charset="0"/>
                <a:cs typeface="Times New Roman" panose="02020603050405020304" pitchFamily="18" charset="0"/>
              </a:rPr>
              <a:t>Compute</a:t>
            </a:r>
            <a:r>
              <a:rPr lang="en-US" sz="2400" dirty="0">
                <a:latin typeface="Times New Roman" panose="02020603050405020304" pitchFamily="18" charset="0"/>
                <a:cs typeface="Times New Roman" panose="02020603050405020304" pitchFamily="18" charset="0"/>
              </a:rPr>
              <a:t>, </a:t>
            </a:r>
            <a:r>
              <a:rPr lang="en-US" sz="2400" b="1" dirty="0">
                <a:latin typeface="Times New Roman" panose="02020603050405020304" pitchFamily="18" charset="0"/>
                <a:cs typeface="Times New Roman" panose="02020603050405020304" pitchFamily="18" charset="0"/>
              </a:rPr>
              <a:t>Storage</a:t>
            </a:r>
            <a:r>
              <a:rPr lang="en-US" sz="2400" dirty="0">
                <a:latin typeface="Times New Roman" panose="02020603050405020304" pitchFamily="18" charset="0"/>
                <a:cs typeface="Times New Roman" panose="02020603050405020304" pitchFamily="18" charset="0"/>
              </a:rPr>
              <a:t>, and </a:t>
            </a:r>
            <a:r>
              <a:rPr lang="en-US" sz="2400" b="1" dirty="0">
                <a:latin typeface="Times New Roman" panose="02020603050405020304" pitchFamily="18" charset="0"/>
                <a:cs typeface="Times New Roman" panose="02020603050405020304" pitchFamily="18" charset="0"/>
              </a:rPr>
              <a:t>Cloud Services.</a:t>
            </a:r>
          </a:p>
          <a:p>
            <a:pPr marL="0" indent="0">
              <a:lnSpc>
                <a:spcPct val="100000"/>
              </a:lnSpc>
              <a:buNone/>
            </a:pPr>
            <a:endParaRPr lang="en-US" sz="2400" b="1" dirty="0">
              <a:latin typeface="Times New Roman" panose="02020603050405020304" pitchFamily="18" charset="0"/>
              <a:cs typeface="Times New Roman" panose="02020603050405020304" pitchFamily="18" charset="0"/>
            </a:endParaRPr>
          </a:p>
          <a:p>
            <a:pPr>
              <a:lnSpc>
                <a:spcPct val="100000"/>
              </a:lnSpc>
            </a:pPr>
            <a:r>
              <a:rPr lang="en-US" sz="2400" b="1" dirty="0">
                <a:latin typeface="Times New Roman" panose="02020603050405020304" pitchFamily="18" charset="0"/>
                <a:cs typeface="Times New Roman" panose="02020603050405020304" pitchFamily="18" charset="0"/>
              </a:rPr>
              <a:t>Compute (virtual warehouse)</a:t>
            </a:r>
            <a:endParaRPr lang="en-IN" sz="2400" dirty="0">
              <a:latin typeface="Times New Roman" panose="02020603050405020304" pitchFamily="18" charset="0"/>
              <a:cs typeface="Times New Roman" panose="02020603050405020304" pitchFamily="18" charset="0"/>
            </a:endParaRPr>
          </a:p>
          <a:p>
            <a:pPr marL="514350" indent="-514350">
              <a:lnSpc>
                <a:spcPct val="100000"/>
              </a:lnSpc>
              <a:buFont typeface="+mj-lt"/>
              <a:buAutoNum type="romanLcPeriod"/>
            </a:pPr>
            <a:r>
              <a:rPr lang="en-US" sz="2400" dirty="0">
                <a:latin typeface="Times New Roman" panose="02020603050405020304" pitchFamily="18" charset="0"/>
                <a:cs typeface="Times New Roman" panose="02020603050405020304" pitchFamily="18" charset="0"/>
              </a:rPr>
              <a:t>Compute is typically the largest part of a Snowflake bill (often 80% or more). It is measured in </a:t>
            </a:r>
            <a:r>
              <a:rPr lang="en-US" sz="2400" b="1" dirty="0">
                <a:latin typeface="Times New Roman" panose="02020603050405020304" pitchFamily="18" charset="0"/>
                <a:cs typeface="Times New Roman" panose="02020603050405020304" pitchFamily="18" charset="0"/>
              </a:rPr>
              <a:t>Snowflake Credits</a:t>
            </a:r>
          </a:p>
          <a:p>
            <a:pPr marL="514350" indent="-514350">
              <a:lnSpc>
                <a:spcPct val="100000"/>
              </a:lnSpc>
              <a:buFont typeface="+mj-lt"/>
              <a:buAutoNum type="romanLcPeriod"/>
            </a:pPr>
            <a:r>
              <a:rPr lang="en-US" sz="2400" b="1" dirty="0">
                <a:latin typeface="Times New Roman" panose="02020603050405020304" pitchFamily="18" charset="0"/>
                <a:cs typeface="Times New Roman" panose="02020603050405020304" pitchFamily="18" charset="0"/>
              </a:rPr>
              <a:t>Virtual Warehouses</a:t>
            </a:r>
            <a:r>
              <a:rPr lang="en-US" sz="2400" dirty="0">
                <a:latin typeface="Times New Roman" panose="02020603050405020304" pitchFamily="18" charset="0"/>
                <a:cs typeface="Times New Roman" panose="02020603050405020304" pitchFamily="18" charset="0"/>
              </a:rPr>
              <a:t>: These are clusters of resources used to run queries and load data. They come in "T-shirt sizes" (XS to 6XL), where each larger size doubles the compute power and the credit consumption per hour.</a:t>
            </a:r>
          </a:p>
          <a:p>
            <a:pPr marL="514350" indent="-514350">
              <a:lnSpc>
                <a:spcPct val="100000"/>
              </a:lnSpc>
              <a:buFont typeface="+mj-lt"/>
              <a:buAutoNum type="romanLcPeriod"/>
            </a:pPr>
            <a:r>
              <a:rPr lang="en-US" sz="2400" b="1" dirty="0">
                <a:latin typeface="Times New Roman" panose="02020603050405020304" pitchFamily="18" charset="0"/>
                <a:cs typeface="Times New Roman" panose="02020603050405020304" pitchFamily="18" charset="0"/>
              </a:rPr>
              <a:t>Per-Second Billing</a:t>
            </a:r>
            <a:r>
              <a:rPr lang="en-US" sz="2400" dirty="0">
                <a:latin typeface="Times New Roman" panose="02020603050405020304" pitchFamily="18" charset="0"/>
                <a:cs typeface="Times New Roman" panose="02020603050405020304" pitchFamily="18" charset="0"/>
              </a:rPr>
              <a:t>: You are billed for credits per second while a warehouse is running, with a </a:t>
            </a:r>
            <a:r>
              <a:rPr lang="en-US" sz="2400" b="1" dirty="0">
                <a:latin typeface="Times New Roman" panose="02020603050405020304" pitchFamily="18" charset="0"/>
                <a:cs typeface="Times New Roman" panose="02020603050405020304" pitchFamily="18" charset="0"/>
              </a:rPr>
              <a:t>60-second minimum</a:t>
            </a:r>
            <a:r>
              <a:rPr lang="en-US" sz="2400" dirty="0">
                <a:latin typeface="Times New Roman" panose="02020603050405020304" pitchFamily="18" charset="0"/>
                <a:cs typeface="Times New Roman" panose="02020603050405020304" pitchFamily="18" charset="0"/>
              </a:rPr>
              <a:t> each time it starts.</a:t>
            </a:r>
          </a:p>
          <a:p>
            <a:pPr marL="514350" indent="-514350">
              <a:buFont typeface="+mj-lt"/>
              <a:buAutoNum type="romanLcPeriod"/>
            </a:pPr>
            <a:endParaRPr lang="en-IN" dirty="0"/>
          </a:p>
        </p:txBody>
      </p:sp>
    </p:spTree>
    <p:extLst>
      <p:ext uri="{BB962C8B-B14F-4D97-AF65-F5344CB8AC3E}">
        <p14:creationId xmlns:p14="http://schemas.microsoft.com/office/powerpoint/2010/main" val="163816274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F1B2F0-C1F2-5F24-707F-685A83F13ED8}"/>
              </a:ext>
            </a:extLst>
          </p:cNvPr>
          <p:cNvSpPr>
            <a:spLocks noGrp="1"/>
          </p:cNvSpPr>
          <p:nvPr>
            <p:ph type="title"/>
          </p:nvPr>
        </p:nvSpPr>
        <p:spPr>
          <a:xfrm>
            <a:off x="838200" y="365126"/>
            <a:ext cx="10515600" cy="500114"/>
          </a:xfrm>
        </p:spPr>
        <p:txBody>
          <a:bodyPr>
            <a:normAutofit fontScale="90000"/>
          </a:bodyPr>
          <a:lstStyle/>
          <a:p>
            <a:endParaRPr lang="en-IN" dirty="0"/>
          </a:p>
        </p:txBody>
      </p:sp>
      <p:sp>
        <p:nvSpPr>
          <p:cNvPr id="3" name="Content Placeholder 2">
            <a:extLst>
              <a:ext uri="{FF2B5EF4-FFF2-40B4-BE49-F238E27FC236}">
                <a16:creationId xmlns:a16="http://schemas.microsoft.com/office/drawing/2014/main" id="{0F89431A-BCFB-2CC4-118B-79EBD4C7E111}"/>
              </a:ext>
            </a:extLst>
          </p:cNvPr>
          <p:cNvSpPr>
            <a:spLocks noGrp="1"/>
          </p:cNvSpPr>
          <p:nvPr>
            <p:ph idx="1"/>
          </p:nvPr>
        </p:nvSpPr>
        <p:spPr>
          <a:xfrm>
            <a:off x="838200" y="1140542"/>
            <a:ext cx="10515600" cy="5036421"/>
          </a:xfrm>
        </p:spPr>
        <p:txBody>
          <a:bodyPr>
            <a:normAutofit/>
          </a:bodyPr>
          <a:lstStyle/>
          <a:p>
            <a:pPr marL="0" indent="0">
              <a:buNone/>
            </a:pPr>
            <a:r>
              <a:rPr lang="en-US" sz="2400" b="1" dirty="0">
                <a:latin typeface="Times New Roman" panose="02020603050405020304" pitchFamily="18" charset="0"/>
                <a:cs typeface="Times New Roman" panose="02020603050405020304" pitchFamily="18" charset="0"/>
              </a:rPr>
              <a:t>2) Storage </a:t>
            </a:r>
          </a:p>
          <a:p>
            <a:pPr marL="571500" indent="-571500">
              <a:buFont typeface="+mj-lt"/>
              <a:buAutoNum type="romanLcPeriod"/>
            </a:pPr>
            <a:r>
              <a:rPr lang="en-US" sz="2400" dirty="0">
                <a:latin typeface="Times New Roman" panose="02020603050405020304" pitchFamily="18" charset="0"/>
                <a:cs typeface="Times New Roman" panose="02020603050405020304" pitchFamily="18" charset="0"/>
              </a:rPr>
              <a:t>Snowflake charges a monthly fee based on the average amount of compressed data stored per month</a:t>
            </a:r>
          </a:p>
          <a:p>
            <a:pPr marL="0" indent="0">
              <a:buNone/>
            </a:pPr>
            <a:endParaRPr lang="en-US" sz="2400" dirty="0">
              <a:latin typeface="Times New Roman" panose="02020603050405020304" pitchFamily="18" charset="0"/>
              <a:cs typeface="Times New Roman" panose="02020603050405020304" pitchFamily="18" charset="0"/>
            </a:endParaRPr>
          </a:p>
          <a:p>
            <a:pPr marL="0" indent="0">
              <a:buNone/>
            </a:pPr>
            <a:r>
              <a:rPr lang="en-US" sz="2400" b="1" dirty="0">
                <a:latin typeface="Times New Roman" panose="02020603050405020304" pitchFamily="18" charset="0"/>
                <a:cs typeface="Times New Roman" panose="02020603050405020304" pitchFamily="18" charset="0"/>
              </a:rPr>
              <a:t>3) Cloud services layer</a:t>
            </a:r>
            <a:endParaRPr lang="en-US" sz="2400" dirty="0">
              <a:latin typeface="Times New Roman" panose="02020603050405020304" pitchFamily="18" charset="0"/>
              <a:cs typeface="Times New Roman" panose="02020603050405020304" pitchFamily="18" charset="0"/>
            </a:endParaRPr>
          </a:p>
          <a:p>
            <a:pPr marL="571500" indent="-571500">
              <a:buFont typeface="+mj-lt"/>
              <a:buAutoNum type="romanLcPeriod"/>
            </a:pPr>
            <a:r>
              <a:rPr lang="en-US" sz="2400" dirty="0">
                <a:latin typeface="Times New Roman" panose="02020603050405020304" pitchFamily="18" charset="0"/>
                <a:cs typeface="Times New Roman" panose="02020603050405020304" pitchFamily="18" charset="0"/>
              </a:rPr>
              <a:t>This layer handles metadata, query optimization, and security</a:t>
            </a:r>
          </a:p>
          <a:p>
            <a:pPr marL="571500" indent="-571500">
              <a:buFont typeface="+mj-lt"/>
              <a:buAutoNum type="romanLcPeriod"/>
            </a:pPr>
            <a:r>
              <a:rPr lang="en-US" sz="2400" dirty="0">
                <a:latin typeface="Times New Roman" panose="02020603050405020304" pitchFamily="18" charset="0"/>
                <a:cs typeface="Times New Roman" panose="02020603050405020304" pitchFamily="18" charset="0"/>
              </a:rPr>
              <a:t>10% Adjustment: Most customers pay $0 for this. Snowflake only bills for cloud services if their daily usage exceeds 10% of that day's total warehouse usage</a:t>
            </a: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66951798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B6DC6E-BD8B-2EBA-63CB-C2A04A1A40B3}"/>
              </a:ext>
            </a:extLst>
          </p:cNvPr>
          <p:cNvSpPr>
            <a:spLocks noGrp="1"/>
          </p:cNvSpPr>
          <p:nvPr>
            <p:ph type="title"/>
          </p:nvPr>
        </p:nvSpPr>
        <p:spPr>
          <a:xfrm>
            <a:off x="838200" y="365126"/>
            <a:ext cx="10515600" cy="315912"/>
          </a:xfrm>
        </p:spPr>
        <p:txBody>
          <a:bodyPr>
            <a:normAutofit fontScale="90000"/>
          </a:bodyPr>
          <a:lstStyle/>
          <a:p>
            <a:pPr algn="ctr"/>
            <a:r>
              <a:rPr lang="en-US" dirty="0"/>
              <a:t>Roles </a:t>
            </a:r>
            <a:endParaRPr lang="en-IN" dirty="0"/>
          </a:p>
        </p:txBody>
      </p:sp>
      <p:sp>
        <p:nvSpPr>
          <p:cNvPr id="3" name="Content Placeholder 2">
            <a:extLst>
              <a:ext uri="{FF2B5EF4-FFF2-40B4-BE49-F238E27FC236}">
                <a16:creationId xmlns:a16="http://schemas.microsoft.com/office/drawing/2014/main" id="{67526401-F243-24D1-5D85-906F24F652B2}"/>
              </a:ext>
            </a:extLst>
          </p:cNvPr>
          <p:cNvSpPr>
            <a:spLocks noGrp="1"/>
          </p:cNvSpPr>
          <p:nvPr>
            <p:ph idx="1"/>
          </p:nvPr>
        </p:nvSpPr>
        <p:spPr>
          <a:xfrm>
            <a:off x="838200" y="963561"/>
            <a:ext cx="10515600" cy="5213402"/>
          </a:xfrm>
        </p:spPr>
        <p:txBody>
          <a:bodyPr>
            <a:normAutofit fontScale="92500"/>
          </a:bodyPr>
          <a:lstStyle/>
          <a:p>
            <a:pPr>
              <a:lnSpc>
                <a:spcPct val="110000"/>
              </a:lnSpc>
            </a:pPr>
            <a:r>
              <a:rPr lang="en-US" sz="2400" dirty="0"/>
              <a:t>ACCOUNTADMIN: the "super-user" role that manages the entire account, including billing and account-level parameters. It inherits all privileges from the SYSADMIN and SECURITYADMIN roles.</a:t>
            </a:r>
          </a:p>
          <a:p>
            <a:pPr>
              <a:lnSpc>
                <a:spcPct val="110000"/>
              </a:lnSpc>
            </a:pPr>
            <a:r>
              <a:rPr lang="en-US" sz="2400" dirty="0" err="1"/>
              <a:t>Orgadmin</a:t>
            </a:r>
            <a:r>
              <a:rPr lang="en-US" sz="2400" dirty="0"/>
              <a:t>: a specialized role for managing multiple accounts within an organization.</a:t>
            </a:r>
          </a:p>
          <a:p>
            <a:pPr>
              <a:lnSpc>
                <a:spcPct val="110000"/>
              </a:lnSpc>
            </a:pPr>
            <a:r>
              <a:rPr lang="en-US" sz="2400" dirty="0" err="1"/>
              <a:t>Securityadmin</a:t>
            </a:r>
            <a:r>
              <a:rPr lang="en-US" sz="2400" dirty="0"/>
              <a:t>: responsible for creating and managing users and roles. It has the global MANAGE GRANTS privilege to modify any grant in the account.</a:t>
            </a:r>
          </a:p>
          <a:p>
            <a:pPr>
              <a:lnSpc>
                <a:spcPct val="110000"/>
              </a:lnSpc>
            </a:pPr>
            <a:r>
              <a:rPr lang="en-US" sz="2400" dirty="0" err="1"/>
              <a:t>Useradmin</a:t>
            </a:r>
            <a:r>
              <a:rPr lang="en-US" sz="2400" dirty="0"/>
              <a:t>: a child of </a:t>
            </a:r>
            <a:r>
              <a:rPr lang="en-US" sz="2400" dirty="0" err="1"/>
              <a:t>securityadmin</a:t>
            </a:r>
            <a:r>
              <a:rPr lang="en-US" sz="2400" dirty="0"/>
              <a:t> specifically for creating and managing users and roles.</a:t>
            </a:r>
          </a:p>
          <a:p>
            <a:pPr>
              <a:lnSpc>
                <a:spcPct val="110000"/>
              </a:lnSpc>
            </a:pPr>
            <a:r>
              <a:rPr lang="en-US" sz="2400" dirty="0"/>
              <a:t>Sysadmin: the role responsible for creating and managing system-level objects like databases, warehouses, and schemas.</a:t>
            </a:r>
          </a:p>
          <a:p>
            <a:pPr>
              <a:lnSpc>
                <a:spcPct val="110000"/>
              </a:lnSpc>
            </a:pPr>
            <a:r>
              <a:rPr lang="en-US" sz="2400" dirty="0"/>
              <a:t>Public: a pseudo-role automatically granted to every user in the account. It provides basic access to objects that are explicitly shared with everyone</a:t>
            </a:r>
          </a:p>
          <a:p>
            <a:endParaRPr lang="en-IN" dirty="0"/>
          </a:p>
        </p:txBody>
      </p:sp>
    </p:spTree>
    <p:extLst>
      <p:ext uri="{BB962C8B-B14F-4D97-AF65-F5344CB8AC3E}">
        <p14:creationId xmlns:p14="http://schemas.microsoft.com/office/powerpoint/2010/main" val="280363642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125</TotalTime>
  <Words>1168</Words>
  <Application>Microsoft Office PowerPoint</Application>
  <PresentationFormat>Widescreen</PresentationFormat>
  <Paragraphs>106</Paragraphs>
  <Slides>16</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16</vt:i4>
      </vt:variant>
    </vt:vector>
  </HeadingPairs>
  <TitlesOfParts>
    <vt:vector size="22" baseType="lpstr">
      <vt:lpstr>Arial</vt:lpstr>
      <vt:lpstr>Calibri</vt:lpstr>
      <vt:lpstr>Calibri Light</vt:lpstr>
      <vt:lpstr>Inter</vt:lpstr>
      <vt:lpstr>Times New Roman</vt:lpstr>
      <vt:lpstr>Office Theme</vt:lpstr>
      <vt:lpstr>What is Snowflake? </vt:lpstr>
      <vt:lpstr>PowerPoint Presentation</vt:lpstr>
      <vt:lpstr>PowerPoint Presentation</vt:lpstr>
      <vt:lpstr>PowerPoint Presentation</vt:lpstr>
      <vt:lpstr>PowerPoint Presentation</vt:lpstr>
      <vt:lpstr>Features of snowflake</vt:lpstr>
      <vt:lpstr>Snowflake architecture</vt:lpstr>
      <vt:lpstr>Data storage layer</vt:lpstr>
      <vt:lpstr>PowerPoint Presentation</vt:lpstr>
      <vt:lpstr>Query processing layer/compute layer</vt:lpstr>
      <vt:lpstr>Cloud services layer</vt:lpstr>
      <vt:lpstr>Editions </vt:lpstr>
      <vt:lpstr>PowerPoint Presentation</vt:lpstr>
      <vt:lpstr>Pricing </vt:lpstr>
      <vt:lpstr>PowerPoint Presentation</vt:lpstr>
      <vt:lpstr>Roles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Sumitha G</dc:creator>
  <cp:lastModifiedBy>Sumitha G</cp:lastModifiedBy>
  <cp:revision>2</cp:revision>
  <dcterms:created xsi:type="dcterms:W3CDTF">2026-03-24T00:49:09Z</dcterms:created>
  <dcterms:modified xsi:type="dcterms:W3CDTF">2026-03-30T14:51:43Z</dcterms:modified>
</cp:coreProperties>
</file>